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</p:sldMasterIdLst>
  <p:notesMasterIdLst>
    <p:notesMasterId r:id="rId28"/>
  </p:notesMasterIdLst>
  <p:sldIdLst>
    <p:sldId id="364" r:id="rId5"/>
    <p:sldId id="362" r:id="rId6"/>
    <p:sldId id="369" r:id="rId7"/>
    <p:sldId id="373" r:id="rId8"/>
    <p:sldId id="375" r:id="rId9"/>
    <p:sldId id="365" r:id="rId10"/>
    <p:sldId id="374" r:id="rId11"/>
    <p:sldId id="376" r:id="rId12"/>
    <p:sldId id="377" r:id="rId13"/>
    <p:sldId id="379" r:id="rId14"/>
    <p:sldId id="378" r:id="rId15"/>
    <p:sldId id="390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67" r:id="rId27"/>
  </p:sldIdLst>
  <p:sldSz cx="12192000" cy="6858000"/>
  <p:notesSz cx="6805613" cy="99441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æsentation" id="{01027AF5-2A42-4A54-A5D0-3CE2FDA27243}">
          <p14:sldIdLst>
            <p14:sldId id="364"/>
            <p14:sldId id="362"/>
            <p14:sldId id="369"/>
            <p14:sldId id="373"/>
            <p14:sldId id="375"/>
            <p14:sldId id="365"/>
            <p14:sldId id="374"/>
            <p14:sldId id="376"/>
            <p14:sldId id="377"/>
            <p14:sldId id="379"/>
            <p14:sldId id="378"/>
            <p14:sldId id="390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67"/>
          </p14:sldIdLst>
        </p14:section>
        <p14:section name="Inspiration &amp; vejledning" id="{0A638584-7DFA-445B-814D-C8A7CEA08089}">
          <p14:sldIdLst/>
        </p14:section>
        <p14:section name="Eksempler på forsideslides" id="{C8A40E49-04FA-47F4-96D9-1DCB77C5AF85}">
          <p14:sldIdLst/>
        </p14:section>
        <p14:section name="Eksempler på indholdsslides" id="{552C3CB6-FBEA-4DD1-84BF-F65A7BFF9520}">
          <p14:sldIdLst/>
        </p14:section>
        <p14:section name="Eksempel på afslutningsslide" id="{BF9426C9-475D-4087-80A2-222F516EC59D}">
          <p14:sldIdLst/>
        </p14:section>
        <p14:section name="Grafiske elementer" id="{2DDAA27B-F89D-4596-8A67-849839F49941}">
          <p14:sldIdLst/>
        </p14:section>
      </p14:sectionLst>
    </p:ext>
    <p:ext uri="{EFAFB233-063F-42B5-8137-9DF3F51BA10A}">
      <p15:sldGuideLst xmlns:p15="http://schemas.microsoft.com/office/powerpoint/2012/main">
        <p15:guide id="2" pos="4906" userDrawn="1">
          <p15:clr>
            <a:srgbClr val="A4A3A4"/>
          </p15:clr>
        </p15:guide>
        <p15:guide id="3" pos="5654" userDrawn="1">
          <p15:clr>
            <a:srgbClr val="A4A3A4"/>
          </p15:clr>
        </p15:guide>
        <p15:guide id="8" pos="3001" userDrawn="1">
          <p15:clr>
            <a:srgbClr val="A4A3A4"/>
          </p15:clr>
        </p15:guide>
        <p15:guide id="11" pos="1141" userDrawn="1">
          <p15:clr>
            <a:srgbClr val="A4A3A4"/>
          </p15:clr>
        </p15:guide>
        <p15:guide id="12" orient="horz" pos="3430" userDrawn="1">
          <p15:clr>
            <a:srgbClr val="A4A3A4"/>
          </p15:clr>
        </p15:guide>
        <p15:guide id="13" pos="2048" userDrawn="1">
          <p15:clr>
            <a:srgbClr val="A4A3A4"/>
          </p15:clr>
        </p15:guide>
        <p15:guide id="17" orient="horz" pos="3067" userDrawn="1">
          <p15:clr>
            <a:srgbClr val="A4A3A4"/>
          </p15:clr>
        </p15:guide>
        <p15:guide id="18" orient="horz" pos="935" userDrawn="1">
          <p15:clr>
            <a:srgbClr val="A4A3A4"/>
          </p15:clr>
        </p15:guide>
        <p15:guide id="19" orient="horz" pos="3498" userDrawn="1">
          <p15:clr>
            <a:srgbClr val="A4A3A4"/>
          </p15:clr>
        </p15:guide>
        <p15:guide id="20" orient="horz" pos="3974" userDrawn="1">
          <p15:clr>
            <a:srgbClr val="A4A3A4"/>
          </p15:clr>
        </p15:guide>
        <p15:guide id="21" pos="2570" userDrawn="1">
          <p15:clr>
            <a:srgbClr val="A4A3A4"/>
          </p15:clr>
        </p15:guide>
        <p15:guide id="22" pos="3386" userDrawn="1">
          <p15:clr>
            <a:srgbClr val="A4A3A4"/>
          </p15:clr>
        </p15:guide>
        <p15:guide id="23" pos="4294" userDrawn="1">
          <p15:clr>
            <a:srgbClr val="A4A3A4"/>
          </p15:clr>
        </p15:guide>
        <p15:guide id="24" pos="5337" userDrawn="1">
          <p15:clr>
            <a:srgbClr val="A4A3A4"/>
          </p15:clr>
        </p15:guide>
        <p15:guide id="25" orient="horz" pos="1865" userDrawn="1">
          <p15:clr>
            <a:srgbClr val="A4A3A4"/>
          </p15:clr>
        </p15:guide>
        <p15:guide id="26" orient="horz" pos="1389" userDrawn="1">
          <p15:clr>
            <a:srgbClr val="A4A3A4"/>
          </p15:clr>
        </p15:guide>
        <p15:guide id="27" pos="3840" userDrawn="1">
          <p15:clr>
            <a:srgbClr val="A4A3A4"/>
          </p15:clr>
        </p15:guide>
        <p15:guide id="28" orient="horz" pos="754" userDrawn="1">
          <p15:clr>
            <a:srgbClr val="A4A3A4"/>
          </p15:clr>
        </p15:guide>
        <p15:guide id="29" pos="1572" userDrawn="1">
          <p15:clr>
            <a:srgbClr val="A4A3A4"/>
          </p15:clr>
        </p15:guide>
        <p15:guide id="30" pos="688" userDrawn="1">
          <p15:clr>
            <a:srgbClr val="A4A3A4"/>
          </p15:clr>
        </p15:guide>
        <p15:guide id="31" pos="461" userDrawn="1">
          <p15:clr>
            <a:srgbClr val="A4A3A4"/>
          </p15:clr>
        </p15:guide>
        <p15:guide id="32" pos="6108" userDrawn="1">
          <p15:clr>
            <a:srgbClr val="A4A3A4"/>
          </p15:clr>
        </p15:guide>
        <p15:guide id="33" pos="6494" userDrawn="1">
          <p15:clr>
            <a:srgbClr val="A4A3A4"/>
          </p15:clr>
        </p15:guide>
        <p15:guide id="34" pos="6992" userDrawn="1">
          <p15:clr>
            <a:srgbClr val="A4A3A4"/>
          </p15:clr>
        </p15:guide>
        <p15:guide id="35" pos="7446" userDrawn="1">
          <p15:clr>
            <a:srgbClr val="A4A3A4"/>
          </p15:clr>
        </p15:guide>
        <p15:guide id="36" orient="horz" pos="527" userDrawn="1">
          <p15:clr>
            <a:srgbClr val="A4A3A4"/>
          </p15:clr>
        </p15:guide>
        <p15:guide id="37" orient="horz" pos="22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3F0D"/>
    <a:srgbClr val="788313"/>
    <a:srgbClr val="120B3D"/>
    <a:srgbClr val="586D8A"/>
    <a:srgbClr val="DCDADA"/>
    <a:srgbClr val="FFCC29"/>
    <a:srgbClr val="ED7D31"/>
    <a:srgbClr val="B51412"/>
    <a:srgbClr val="D4D2D2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422515-30C6-1C39-6B15-D4F49845B4F3}" v="197" dt="2025-11-04T16:38:35.062"/>
    <p1510:client id="{AD48AFF0-5645-E71B-6DED-B80815E30825}" v="201" dt="2025-11-04T17:10:59.361"/>
    <p1510:client id="{FF293799-029F-0010-1764-D1B919E6F533}" v="353" dt="2025-11-04T16:14:49.2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>
        <p:guide pos="4906"/>
        <p:guide pos="5654"/>
        <p:guide pos="3001"/>
        <p:guide pos="1141"/>
        <p:guide orient="horz" pos="3430"/>
        <p:guide pos="2048"/>
        <p:guide orient="horz" pos="3067"/>
        <p:guide orient="horz" pos="935"/>
        <p:guide orient="horz" pos="3498"/>
        <p:guide orient="horz" pos="3974"/>
        <p:guide pos="2570"/>
        <p:guide pos="3386"/>
        <p:guide pos="4294"/>
        <p:guide pos="5337"/>
        <p:guide orient="horz" pos="1865"/>
        <p:guide orient="horz" pos="1389"/>
        <p:guide pos="3840"/>
        <p:guide orient="horz" pos="754"/>
        <p:guide pos="1572"/>
        <p:guide pos="688"/>
        <p:guide pos="461"/>
        <p:guide pos="6108"/>
        <p:guide pos="6494"/>
        <p:guide pos="6992"/>
        <p:guide pos="7446"/>
        <p:guide orient="horz" pos="527"/>
        <p:guide orient="horz" pos="22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5709" tIns="47854" rIns="95709" bIns="47854" rtlCol="0"/>
          <a:lstStyle>
            <a:lvl1pPr algn="l">
              <a:defRPr sz="13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8932"/>
          </a:xfrm>
          <a:prstGeom prst="rect">
            <a:avLst/>
          </a:prstGeom>
        </p:spPr>
        <p:txBody>
          <a:bodyPr vert="horz" lIns="95709" tIns="47854" rIns="95709" bIns="47854" rtlCol="0"/>
          <a:lstStyle>
            <a:lvl1pPr algn="r">
              <a:defRPr sz="1300"/>
            </a:lvl1pPr>
          </a:lstStyle>
          <a:p>
            <a:fld id="{8626F44B-62AD-4BD9-9C5A-F0A4BDDA55B5}" type="datetimeFigureOut">
              <a:rPr lang="da-DK" smtClean="0"/>
              <a:t>07-11-2025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709" tIns="47854" rIns="95709" bIns="47854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0562" y="4785599"/>
            <a:ext cx="5444490" cy="3915489"/>
          </a:xfrm>
          <a:prstGeom prst="rect">
            <a:avLst/>
          </a:prstGeom>
        </p:spPr>
        <p:txBody>
          <a:bodyPr vert="horz" lIns="95709" tIns="47854" rIns="95709" bIns="47854" rtlCol="0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9445170"/>
            <a:ext cx="2949099" cy="498930"/>
          </a:xfrm>
          <a:prstGeom prst="rect">
            <a:avLst/>
          </a:prstGeom>
        </p:spPr>
        <p:txBody>
          <a:bodyPr vert="horz" lIns="95709" tIns="47854" rIns="95709" bIns="47854" rtlCol="0" anchor="b"/>
          <a:lstStyle>
            <a:lvl1pPr algn="l">
              <a:defRPr sz="13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54940" y="9445170"/>
            <a:ext cx="2949099" cy="498930"/>
          </a:xfrm>
          <a:prstGeom prst="rect">
            <a:avLst/>
          </a:prstGeom>
        </p:spPr>
        <p:txBody>
          <a:bodyPr vert="horz" lIns="95709" tIns="47854" rIns="95709" bIns="47854" rtlCol="0" anchor="b"/>
          <a:lstStyle>
            <a:lvl1pPr algn="r">
              <a:defRPr sz="1300"/>
            </a:lvl1pPr>
          </a:lstStyle>
          <a:p>
            <a:fld id="{D23D4202-0DCF-4805-B145-3EFFB62894C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67640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, billede, overskrift,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78997079-19E8-0102-64CE-9781C5D592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9999" y="5063952"/>
            <a:ext cx="10740525" cy="684000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3" name="Undertitel 2" descr="Undertitel">
            <a:extLst>
              <a:ext uri="{FF2B5EF4-FFF2-40B4-BE49-F238E27FC236}">
                <a16:creationId xmlns:a16="http://schemas.microsoft.com/office/drawing/2014/main" id="{D72CFAF7-5A75-85CA-EC70-A6CDC25A0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79999" y="5743068"/>
            <a:ext cx="10740524" cy="396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Undertitel</a:t>
            </a:r>
            <a:endParaRPr lang="en-GB"/>
          </a:p>
        </p:txBody>
      </p:sp>
      <p:sp>
        <p:nvSpPr>
          <p:cNvPr id="10" name="Pladsholder til billede 8" descr="Billede">
            <a:extLst>
              <a:ext uri="{FF2B5EF4-FFF2-40B4-BE49-F238E27FC236}">
                <a16:creationId xmlns:a16="http://schemas.microsoft.com/office/drawing/2014/main" id="{65282F5F-A9C1-A6A3-74F0-8B552B1F7D3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126800"/>
            <a:ext cx="12192000" cy="38528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/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C474130E-C4C1-D82B-C9F7-637A4DBB8F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50000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86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, billede, 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billede 8" descr="Billede">
            <a:extLst>
              <a:ext uri="{FF2B5EF4-FFF2-40B4-BE49-F238E27FC236}">
                <a16:creationId xmlns:a16="http://schemas.microsoft.com/office/drawing/2014/main" id="{3581105E-F817-C145-97BB-C7D4F54712D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126800"/>
            <a:ext cx="12192000" cy="5731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/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FC0C01D6-6CA6-4F12-FF60-2B95D12038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826920"/>
            <a:ext cx="9684000" cy="1080000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8" name="Titel 1" descr="Titel">
            <a:extLst>
              <a:ext uri="{FF2B5EF4-FFF2-40B4-BE49-F238E27FC236}">
                <a16:creationId xmlns:a16="http://schemas.microsoft.com/office/drawing/2014/main" id="{E762EBF9-E279-12E7-1B5C-7E9E99A23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9999" y="5044902"/>
            <a:ext cx="8248485" cy="684000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a-DK" noProof="0"/>
              <a:t>Titel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365B4CD8-AE7A-E991-B525-BA6D844AD2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86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, overskrift, teks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 descr="Titel">
            <a:extLst>
              <a:ext uri="{FF2B5EF4-FFF2-40B4-BE49-F238E27FC236}">
                <a16:creationId xmlns:a16="http://schemas.microsoft.com/office/drawing/2014/main" id="{695B6DD0-9934-65E2-80CE-55E733B6E55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9999" y="4350083"/>
            <a:ext cx="10740525" cy="684000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12" name="Undertitel 2" descr="Undertitel">
            <a:extLst>
              <a:ext uri="{FF2B5EF4-FFF2-40B4-BE49-F238E27FC236}">
                <a16:creationId xmlns:a16="http://schemas.microsoft.com/office/drawing/2014/main" id="{65BBCEE8-D9DC-A62B-FED6-D47FBFAC30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79999" y="5029199"/>
            <a:ext cx="10740524" cy="396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Undertitel</a:t>
            </a:r>
            <a:endParaRPr lang="en-GB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2EC3BF41-0C90-F8E9-28F9-001BA89CE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0015" y="287972"/>
            <a:ext cx="1468801" cy="55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33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, stort logo, rø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 descr="Titel">
            <a:extLst>
              <a:ext uri="{FF2B5EF4-FFF2-40B4-BE49-F238E27FC236}">
                <a16:creationId xmlns:a16="http://schemas.microsoft.com/office/drawing/2014/main" id="{310C55B5-B0AD-850B-03C8-834E420AA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9999" y="4975721"/>
            <a:ext cx="10740525" cy="684000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10" name="Undertitel 2" descr="Undertitel">
            <a:extLst>
              <a:ext uri="{FF2B5EF4-FFF2-40B4-BE49-F238E27FC236}">
                <a16:creationId xmlns:a16="http://schemas.microsoft.com/office/drawing/2014/main" id="{DED688CA-DC5C-899F-A132-F6E585AE3B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79999" y="5654837"/>
            <a:ext cx="10740524" cy="396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Undertitel</a:t>
            </a:r>
            <a:endParaRPr lang="en-GB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27F8C14F-19C6-F335-DFB5-244033F90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" y="1160463"/>
            <a:ext cx="7443681" cy="275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37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, stort logo, grå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 descr="Titel">
            <a:extLst>
              <a:ext uri="{FF2B5EF4-FFF2-40B4-BE49-F238E27FC236}">
                <a16:creationId xmlns:a16="http://schemas.microsoft.com/office/drawing/2014/main" id="{310C55B5-B0AD-850B-03C8-834E420AA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9999" y="4975721"/>
            <a:ext cx="10740525" cy="684000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10" name="Undertitel 2" descr="Undertitel">
            <a:extLst>
              <a:ext uri="{FF2B5EF4-FFF2-40B4-BE49-F238E27FC236}">
                <a16:creationId xmlns:a16="http://schemas.microsoft.com/office/drawing/2014/main" id="{DED688CA-DC5C-899F-A132-F6E585AE3B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79999" y="5654837"/>
            <a:ext cx="10740524" cy="396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Undertitel</a:t>
            </a:r>
            <a:endParaRPr lang="en-GB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27F8C14F-19C6-F335-DFB5-244033F90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" y="1160463"/>
            <a:ext cx="7443681" cy="275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61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hold,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3" name="Pladsholder til indhold 2" descr="Indhold">
            <a:extLst>
              <a:ext uri="{FF2B5EF4-FFF2-40B4-BE49-F238E27FC236}">
                <a16:creationId xmlns:a16="http://schemas.microsoft.com/office/drawing/2014/main" id="{CA86B4E6-8104-18B0-D39B-58528B3FFE9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a-DK"/>
              <a:t>Tekst (fjern bullet, hvis almindelig brødtekst ønskes)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F47CEFC1-22DA-ADC7-1A8E-44F082D606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60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hold, rø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7BFDFAC3-1223-F981-6E8A-7EE074A59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490346"/>
            <a:ext cx="12192000" cy="5364000"/>
          </a:xfrm>
          <a:prstGeom prst="rect">
            <a:avLst/>
          </a:prstGeom>
          <a:solidFill>
            <a:srgbClr val="B514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rgbClr val="B51412"/>
              </a:solidFill>
            </a:endParaRPr>
          </a:p>
        </p:txBody>
      </p:sp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3" name="Pladsholder til indhold 2" descr="Undertitel">
            <a:extLst>
              <a:ext uri="{FF2B5EF4-FFF2-40B4-BE49-F238E27FC236}">
                <a16:creationId xmlns:a16="http://schemas.microsoft.com/office/drawing/2014/main" id="{CA86B4E6-8104-18B0-D39B-58528B3FFE9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Tekst (fjern bullet, hvis almindelig brødtekst ønskes)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438AC044-7C72-820B-836A-2B24068D4F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09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hold, gr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7BFDFAC3-1223-F981-6E8A-7EE074A59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490346"/>
            <a:ext cx="12192000" cy="536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rgbClr val="B51412"/>
              </a:solidFill>
            </a:endParaRPr>
          </a:p>
        </p:txBody>
      </p:sp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3" name="Pladsholder til indhold 2" descr="Undertitel">
            <a:extLst>
              <a:ext uri="{FF2B5EF4-FFF2-40B4-BE49-F238E27FC236}">
                <a16:creationId xmlns:a16="http://schemas.microsoft.com/office/drawing/2014/main" id="{CA86B4E6-8104-18B0-D39B-58528B3FFE9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Tekst (fjern bullet, hvis almindelig brødtekst ønskes)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86F8413A-A27F-E82A-1B69-C116CC3909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735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, billede,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3" name="Pladsholder til indhold 2" descr="Indhold">
            <a:extLst>
              <a:ext uri="{FF2B5EF4-FFF2-40B4-BE49-F238E27FC236}">
                <a16:creationId xmlns:a16="http://schemas.microsoft.com/office/drawing/2014/main" id="{CA86B4E6-8104-18B0-D39B-58528B3FFE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19999" y="1921877"/>
            <a:ext cx="6988233" cy="43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/>
              <a:t>Tekst (fjern bullet, hvis almindelig brødtekst ønskes)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9" name="Pladsholder til billede 8" descr="Billede">
            <a:extLst>
              <a:ext uri="{FF2B5EF4-FFF2-40B4-BE49-F238E27FC236}">
                <a16:creationId xmlns:a16="http://schemas.microsoft.com/office/drawing/2014/main" id="{F1BD2816-02B1-E399-C7CF-B0ABF241AB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5200" y="1494000"/>
            <a:ext cx="4096800" cy="53640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  <a:p>
            <a:endParaRPr lang="da-DK" noProof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B570424C-70C0-BB37-0B68-929EE02FA7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0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, billede, rø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D2EA1141-81D4-C084-7FB3-5B6D4774E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490346"/>
            <a:ext cx="12192000" cy="536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rgbClr val="B51412"/>
              </a:solidFill>
            </a:endParaRPr>
          </a:p>
        </p:txBody>
      </p:sp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3" name="Pladsholder til indhold 2" descr="Indhold">
            <a:extLst>
              <a:ext uri="{FF2B5EF4-FFF2-40B4-BE49-F238E27FC236}">
                <a16:creationId xmlns:a16="http://schemas.microsoft.com/office/drawing/2014/main" id="{CA86B4E6-8104-18B0-D39B-58528B3FFE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19999" y="1921877"/>
            <a:ext cx="6988233" cy="439200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Tekst (fjern bullet, hvis almindelig brødtekst ønskes)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9" name="Pladsholder til billede 8" descr="Billede">
            <a:extLst>
              <a:ext uri="{FF2B5EF4-FFF2-40B4-BE49-F238E27FC236}">
                <a16:creationId xmlns:a16="http://schemas.microsoft.com/office/drawing/2014/main" id="{F1BD2816-02B1-E399-C7CF-B0ABF241AB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5200" y="1490400"/>
            <a:ext cx="4096800" cy="53640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26EFF5CB-1516-5500-CF7E-C767934601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248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, billede, gr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D2EA1141-81D4-C084-7FB3-5B6D4774E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490346"/>
            <a:ext cx="12192000" cy="536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rgbClr val="B51412"/>
              </a:solidFill>
            </a:endParaRPr>
          </a:p>
        </p:txBody>
      </p:sp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3" name="Pladsholder til indhold 2" descr="Indhold">
            <a:extLst>
              <a:ext uri="{FF2B5EF4-FFF2-40B4-BE49-F238E27FC236}">
                <a16:creationId xmlns:a16="http://schemas.microsoft.com/office/drawing/2014/main" id="{CA86B4E6-8104-18B0-D39B-58528B3FFE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19999" y="1921877"/>
            <a:ext cx="6988233" cy="439200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Tekst (fjern bullet, hvis almindelig brødtekst ønskes)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9" name="Pladsholder til billede 8" descr="Billede">
            <a:extLst>
              <a:ext uri="{FF2B5EF4-FFF2-40B4-BE49-F238E27FC236}">
                <a16:creationId xmlns:a16="http://schemas.microsoft.com/office/drawing/2014/main" id="{F1BD2816-02B1-E399-C7CF-B0ABF241AB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5200" y="1490400"/>
            <a:ext cx="4096800" cy="53640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26EFF5CB-1516-5500-CF7E-C767934601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331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lede, indhold,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a-DK"/>
              <a:t>Titel</a:t>
            </a:r>
            <a:endParaRPr lang="en-GB"/>
          </a:p>
        </p:txBody>
      </p:sp>
      <p:sp>
        <p:nvSpPr>
          <p:cNvPr id="3" name="Pladsholder til indhold 2" descr="Indhold">
            <a:extLst>
              <a:ext uri="{FF2B5EF4-FFF2-40B4-BE49-F238E27FC236}">
                <a16:creationId xmlns:a16="http://schemas.microsoft.com/office/drawing/2014/main" id="{CA86B4E6-8104-18B0-D39B-58528B3FFE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91870" y="1921877"/>
            <a:ext cx="7031175" cy="43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/>
              <a:t>Tekst (fjern bullet, hvis almindelig brødtekst ønskes)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9" name="Pladsholder til billede 8" descr="Billede">
            <a:extLst>
              <a:ext uri="{FF2B5EF4-FFF2-40B4-BE49-F238E27FC236}">
                <a16:creationId xmlns:a16="http://schemas.microsoft.com/office/drawing/2014/main" id="{F1BD2816-02B1-E399-C7CF-B0ABF241AB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494000"/>
            <a:ext cx="4096800" cy="53640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21F9D6DA-AAD0-21F5-FBCA-57B49981CB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345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lede, indhold, rø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9966A900-6AEB-34A4-224C-1A7626924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490346"/>
            <a:ext cx="12192000" cy="5364000"/>
          </a:xfrm>
          <a:prstGeom prst="rect">
            <a:avLst/>
          </a:prstGeom>
          <a:solidFill>
            <a:srgbClr val="B514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rgbClr val="B51412"/>
              </a:solidFill>
            </a:endParaRPr>
          </a:p>
        </p:txBody>
      </p:sp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3" name="Pladsholder til indhold 2" descr="Indhold">
            <a:extLst>
              <a:ext uri="{FF2B5EF4-FFF2-40B4-BE49-F238E27FC236}">
                <a16:creationId xmlns:a16="http://schemas.microsoft.com/office/drawing/2014/main" id="{CA86B4E6-8104-18B0-D39B-58528B3FFE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91870" y="1921877"/>
            <a:ext cx="7031175" cy="439200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Tekst (fjern bullet hvis almindelig brødtekst ønskes)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9" name="Pladsholder til billede 8" descr="Billede">
            <a:extLst>
              <a:ext uri="{FF2B5EF4-FFF2-40B4-BE49-F238E27FC236}">
                <a16:creationId xmlns:a16="http://schemas.microsoft.com/office/drawing/2014/main" id="{F1BD2816-02B1-E399-C7CF-B0ABF241AB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490400"/>
            <a:ext cx="4096800" cy="53640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9465933D-3A92-B94B-A4F9-B34DA59D73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789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lede, indhold, gr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9966A900-6AEB-34A4-224C-1A7626924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490346"/>
            <a:ext cx="12192000" cy="536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rgbClr val="B51412"/>
              </a:solidFill>
            </a:endParaRPr>
          </a:p>
        </p:txBody>
      </p:sp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3" name="Pladsholder til indhold 2" descr="Indhold">
            <a:extLst>
              <a:ext uri="{FF2B5EF4-FFF2-40B4-BE49-F238E27FC236}">
                <a16:creationId xmlns:a16="http://schemas.microsoft.com/office/drawing/2014/main" id="{CA86B4E6-8104-18B0-D39B-58528B3FFE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91870" y="1921877"/>
            <a:ext cx="7031175" cy="439200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Tekst (fjern bullet hvis almindelig brødtekst ønskes)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9" name="Pladsholder til billede 8" descr="Billede">
            <a:extLst>
              <a:ext uri="{FF2B5EF4-FFF2-40B4-BE49-F238E27FC236}">
                <a16:creationId xmlns:a16="http://schemas.microsoft.com/office/drawing/2014/main" id="{F1BD2816-02B1-E399-C7CF-B0ABF241AB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490400"/>
            <a:ext cx="4096800" cy="53640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A47D9B49-DF24-56BF-DBA3-85C3D5925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0800" y="288000"/>
            <a:ext cx="1467960" cy="53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65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t billede,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10" name="Pladsholder til indhold 2" descr="Indhold">
            <a:extLst>
              <a:ext uri="{FF2B5EF4-FFF2-40B4-BE49-F238E27FC236}">
                <a16:creationId xmlns:a16="http://schemas.microsoft.com/office/drawing/2014/main" id="{97246CA3-2029-0DA4-2145-31E22119712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486274" y="1921877"/>
            <a:ext cx="3336771" cy="43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/>
              <a:t>Tekst (fjern bullet, hvis almindelig brødtekst ønskes)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9" name="Pladsholder til billede 8" descr="Billede">
            <a:extLst>
              <a:ext uri="{FF2B5EF4-FFF2-40B4-BE49-F238E27FC236}">
                <a16:creationId xmlns:a16="http://schemas.microsoft.com/office/drawing/2014/main" id="{F1BD2816-02B1-E399-C7CF-B0ABF241AB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494000"/>
            <a:ext cx="8118000" cy="53640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3CB3152A-5AB9-8BB6-3EE0-AA54561523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2300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,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9" name="Pladsholder til billede 8" descr="Billede">
            <a:extLst>
              <a:ext uri="{FF2B5EF4-FFF2-40B4-BE49-F238E27FC236}">
                <a16:creationId xmlns:a16="http://schemas.microsoft.com/office/drawing/2014/main" id="{F1BD2816-02B1-E399-C7CF-B0ABF241AB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1494000"/>
            <a:ext cx="12192001" cy="53640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2C489BEC-FB90-5245-5607-E716A5767A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51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C810A4-B363-F2E9-3332-C97813468B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718218"/>
            <a:ext cx="9290274" cy="504000"/>
          </a:xfrm>
        </p:spPr>
        <p:txBody>
          <a:bodyPr/>
          <a:lstStyle>
            <a:lvl1pPr>
              <a:defRPr/>
            </a:lvl1pPr>
          </a:lstStyle>
          <a:p>
            <a:r>
              <a:rPr lang="da-DK"/>
              <a:t>Skjult titel – skal udfyldes </a:t>
            </a:r>
            <a:r>
              <a:rPr lang="da-DK" err="1"/>
              <a:t>mhb</a:t>
            </a:r>
            <a:r>
              <a:rPr lang="da-DK"/>
              <a:t>. tilgængelighed</a:t>
            </a:r>
          </a:p>
        </p:txBody>
      </p:sp>
      <p:sp>
        <p:nvSpPr>
          <p:cNvPr id="9" name="Pladsholder til billede 8" descr="Billede">
            <a:extLst>
              <a:ext uri="{FF2B5EF4-FFF2-40B4-BE49-F238E27FC236}">
                <a16:creationId xmlns:a16="http://schemas.microsoft.com/office/drawing/2014/main" id="{F1BD2816-02B1-E399-C7CF-B0ABF241AB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0"/>
            <a:ext cx="12192001" cy="68580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085447F4-A771-68F8-31AF-17C9E09E46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4121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,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EE74B7F7-010B-8F00-1F2D-CBFCABD8C9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8662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, rø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a-DK"/>
              <a:t>Titel</a:t>
            </a:r>
            <a:endParaRPr lang="en-GB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B37B97B1-8765-D76D-6124-F1A481A80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0015" y="287972"/>
            <a:ext cx="1468801" cy="55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7839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rvel og t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D2EA1141-81D4-C084-7FB3-5B6D4774E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490346"/>
            <a:ext cx="12192000" cy="5364000"/>
          </a:xfrm>
          <a:prstGeom prst="rect">
            <a:avLst/>
          </a:prstGeom>
          <a:solidFill>
            <a:srgbClr val="B514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rgbClr val="B51412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501D1D0-2764-D166-8AE0-235366ABB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4000" y="3254395"/>
            <a:ext cx="4212000" cy="1476000"/>
          </a:xfrm>
        </p:spPr>
        <p:txBody>
          <a:bodyPr anchor="ctr" anchorCtr="0">
            <a:noAutofit/>
          </a:bodyPr>
          <a:lstStyle>
            <a:lvl1pPr>
              <a:defRPr lang="da-DK" sz="4400" b="1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Clr>
                <a:schemeClr val="accent1"/>
              </a:buClr>
              <a:buFontTx/>
              <a:buNone/>
            </a:pPr>
            <a:r>
              <a:rPr lang="da-DK"/>
              <a:t>Tekst</a:t>
            </a:r>
          </a:p>
        </p:txBody>
      </p:sp>
      <p:sp>
        <p:nvSpPr>
          <p:cNvPr id="9" name="Pladsholder til billede 8">
            <a:extLst>
              <a:ext uri="{FF2B5EF4-FFF2-40B4-BE49-F238E27FC236}">
                <a16:creationId xmlns:a16="http://schemas.microsoft.com/office/drawing/2014/main" id="{F1BD2816-02B1-E399-C7CF-B0ABF241A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5200" y="1490400"/>
            <a:ext cx="4096800" cy="5364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pic>
        <p:nvPicPr>
          <p:cNvPr id="11" name="Billede 10">
            <a:extLst>
              <a:ext uri="{FF2B5EF4-FFF2-40B4-BE49-F238E27FC236}">
                <a16:creationId xmlns:a16="http://schemas.microsoft.com/office/drawing/2014/main" id="{459A3834-E0B2-18F1-A51E-E71BAC9FD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686" y="3115928"/>
            <a:ext cx="1752935" cy="1752935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6045DD33-B123-76EA-CCD1-6F4CED3DEB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372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 descr="Titel">
            <a:extLst>
              <a:ext uri="{FF2B5EF4-FFF2-40B4-BE49-F238E27FC236}">
                <a16:creationId xmlns:a16="http://schemas.microsoft.com/office/drawing/2014/main" id="{3A5803CF-0F69-4E3C-6FD0-DAC1D496E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53357"/>
            <a:ext cx="9290274" cy="504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da-DK"/>
              <a:t>Titel</a:t>
            </a:r>
          </a:p>
        </p:txBody>
      </p:sp>
      <p:sp>
        <p:nvSpPr>
          <p:cNvPr id="3" name="Pladsholder til tekst 2" descr="Indhold">
            <a:extLst>
              <a:ext uri="{FF2B5EF4-FFF2-40B4-BE49-F238E27FC236}">
                <a16:creationId xmlns:a16="http://schemas.microsoft.com/office/drawing/2014/main" id="{8A58E58A-C131-C47D-D3A3-3D05C8941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1921877"/>
            <a:ext cx="11103711" cy="439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da-DK"/>
              <a:t>Tekst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9BBEDB5-9CD1-62D9-0474-36CA0453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00" y="6481011"/>
            <a:ext cx="2743200" cy="24046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E0C0513-934A-41A1-AF92-F7422FCEADC1}" type="datetimeFigureOut">
              <a:rPr lang="da-DK" smtClean="0"/>
              <a:pPr/>
              <a:t>07-11-2025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2D4F00D-609D-0332-69BD-1DD2FE1A4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99020" y="6481011"/>
            <a:ext cx="4114800" cy="24046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F9D7881-05FB-C3E1-8B4A-FB7F2B2E4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0510" y="6481011"/>
            <a:ext cx="2743200" cy="24046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50DE7CE-C3B6-4610-96B0-534B01CDCF4F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8629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96" r:id="rId5"/>
    <p:sldLayoutId id="2147483686" r:id="rId6"/>
    <p:sldLayoutId id="2147483685" r:id="rId7"/>
    <p:sldLayoutId id="2147483697" r:id="rId8"/>
    <p:sldLayoutId id="2147483679" r:id="rId9"/>
    <p:sldLayoutId id="2147483699" r:id="rId10"/>
    <p:sldLayoutId id="2147483687" r:id="rId11"/>
    <p:sldLayoutId id="2147483688" r:id="rId12"/>
    <p:sldLayoutId id="2147483689" r:id="rId13"/>
    <p:sldLayoutId id="2147483698" r:id="rId14"/>
    <p:sldLayoutId id="2147483690" r:id="rId15"/>
    <p:sldLayoutId id="2147483691" r:id="rId16"/>
    <p:sldLayoutId id="2147483692" r:id="rId17"/>
    <p:sldLayoutId id="2147483694" r:id="rId18"/>
    <p:sldLayoutId id="2147483695" r:id="rId19"/>
    <p:sldLayoutId id="2147483693" r:id="rId20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buNone/>
        <a:defRPr lang="en-GB" sz="3200" b="1" kern="1200" cap="none" baseline="0" dirty="0">
          <a:solidFill>
            <a:srgbClr val="B51412"/>
          </a:solidFill>
          <a:latin typeface="+mn-lt"/>
          <a:ea typeface="+mj-ea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lang="da-DK" sz="2400" kern="120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4000" indent="-34200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26000" indent="-34200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68000" indent="-34200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92000" indent="-34200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si.dk/aktuelt/nyheder/2024/millionstoette-til-ai-drevet-forskning-i-blodforgiftning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teenhulthin.github.io/vibe-coding-kortdage-2025/" TargetMode="External"/><Relationship Id="rId2" Type="http://schemas.openxmlformats.org/officeDocument/2006/relationships/hyperlink" Target="https://github.com/steenhulthin/vibe-coding-kortdage-2025" TargetMode="Externa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82CAF4-74DD-F8DC-685F-01E721B84C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GB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Vibe Coding </a:t>
            </a:r>
            <a:r>
              <a:rPr lang="en-GB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og</a:t>
            </a:r>
            <a:r>
              <a:rPr lang="en-GB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AI-</a:t>
            </a:r>
            <a:r>
              <a:rPr lang="en-GB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assisteret</a:t>
            </a:r>
            <a:r>
              <a:rPr lang="en-GB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udvikling</a:t>
            </a:r>
            <a:r>
              <a:rPr lang="en-GB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af</a:t>
            </a:r>
            <a:r>
              <a:rPr lang="en-GB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geodata-dashboards</a:t>
            </a:r>
            <a:endParaRPr lang="en-US" dirty="0"/>
          </a:p>
          <a:p>
            <a:endParaRPr lang="en-GB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4421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3">
            <a:extLst>
              <a:ext uri="{FF2B5EF4-FFF2-40B4-BE49-F238E27FC236}">
                <a16:creationId xmlns:a16="http://schemas.microsoft.com/office/drawing/2014/main" id="{14D4D76C-8DC1-C33F-AEEE-430CAF79B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2374" y="5378277"/>
            <a:ext cx="10740525" cy="684000"/>
          </a:xfrm>
        </p:spPr>
        <p:txBody>
          <a:bodyPr>
            <a:normAutofit/>
          </a:bodyPr>
          <a:lstStyle/>
          <a:p>
            <a:r>
              <a:rPr lang="da-DK" sz="3200">
                <a:solidFill>
                  <a:srgbClr val="B51412"/>
                </a:solidFill>
                <a:latin typeface="Calibri"/>
                <a:ea typeface="Calibri"/>
                <a:cs typeface="Calibri"/>
              </a:rPr>
              <a:t>AI + data =&gt; dashboards på rekordtid</a:t>
            </a:r>
            <a:endParaRPr lang="en-US"/>
          </a:p>
          <a:p>
            <a:endParaRPr lang="da-DK" sz="3200">
              <a:ea typeface="Calibri"/>
              <a:cs typeface="Calibri"/>
            </a:endParaRP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D04ED070-EF61-D477-2474-1DFFABB407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4" name="Pladsholder til billede 17">
            <a:extLst>
              <a:ext uri="{FF2B5EF4-FFF2-40B4-BE49-F238E27FC236}">
                <a16:creationId xmlns:a16="http://schemas.microsoft.com/office/drawing/2014/main" id="{F13DC927-9E9D-FC18-44B6-6815EF6F3A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22" b="10646"/>
          <a:stretch/>
        </p:blipFill>
        <p:spPr>
          <a:xfrm>
            <a:off x="0" y="1126799"/>
            <a:ext cx="12192000" cy="3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6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3B007-46C8-F833-9795-8D2E6434B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Hvad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er</a:t>
            </a:r>
            <a:r>
              <a:rPr lang="en-US" dirty="0">
                <a:ea typeface="Calibri"/>
                <a:cs typeface="Calibri"/>
              </a:rPr>
              <a:t> SSI (Statens Serum Institut)?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721B0-FF19-2170-252C-BD397E005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930842"/>
            <a:ext cx="11103711" cy="4392000"/>
          </a:xfrm>
        </p:spPr>
        <p:txBody>
          <a:bodyPr>
            <a:normAutofit/>
          </a:bodyPr>
          <a:lstStyle/>
          <a:p>
            <a:pPr marL="341630" indent="-341630"/>
            <a:r>
              <a:rPr lang="en-US" sz="2800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Hvad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/</a:t>
            </a:r>
            <a:r>
              <a:rPr lang="en-US" sz="2800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hvem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er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SSI?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</a:endParaRPr>
          </a:p>
          <a:p>
            <a:pPr marL="683895" lvl="1" indent="-34163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SSI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under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Indenrigs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Sundhedsministeriet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Arial" panose="020B0604020202020204" pitchFamily="34" charset="0"/>
            </a:endParaRPr>
          </a:p>
          <a:p>
            <a:pPr marL="683895" lvl="1" indent="-34163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SSI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forebygger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bekæmper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infektionssygdomme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medfødte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sygdomme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</a:t>
            </a:r>
          </a:p>
          <a:p>
            <a:pPr marL="683895" lvl="1" indent="-34163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1630" lvl="0" indent="-341630">
              <a:buClr>
                <a:srgbClr val="B51412"/>
              </a:buClr>
            </a:pPr>
            <a:r>
              <a:rPr lang="en-US" sz="2800" dirty="0" err="1">
                <a:solidFill>
                  <a:srgbClr val="000000"/>
                </a:solidFill>
                <a:ea typeface="Calibri"/>
                <a:cs typeface="Arial"/>
              </a:rPr>
              <a:t>H</a:t>
            </a:r>
            <a:r>
              <a:rPr lang="en-US" sz="2800" dirty="0" err="1">
                <a:solidFill>
                  <a:srgbClr val="000000"/>
                </a:solidFill>
                <a:ea typeface="Calibri"/>
                <a:cs typeface="Calibri"/>
              </a:rPr>
              <a:t>vordan</a:t>
            </a:r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</a:rPr>
              <a:t> </a:t>
            </a:r>
            <a:r>
              <a:rPr lang="en-US" sz="2800" dirty="0" err="1">
                <a:solidFill>
                  <a:srgbClr val="000000"/>
                </a:solidFill>
                <a:ea typeface="Calibri"/>
                <a:cs typeface="Calibri"/>
              </a:rPr>
              <a:t>arbejder</a:t>
            </a:r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</a:rPr>
              <a:t> vi med AI</a:t>
            </a:r>
            <a:r>
              <a:rPr lang="en-US" sz="2800" dirty="0">
                <a:solidFill>
                  <a:srgbClr val="000000"/>
                </a:solidFill>
                <a:ea typeface="Calibri"/>
                <a:cs typeface="Arial"/>
              </a:rPr>
              <a:t>?</a:t>
            </a:r>
            <a:endParaRPr lang="en-US" dirty="0">
              <a:ea typeface="Calibri"/>
              <a:cs typeface="Arial" panose="020B0604020202020204" pitchFamily="34" charset="0"/>
            </a:endParaRPr>
          </a:p>
          <a:p>
            <a:pPr marL="683895" lvl="1" indent="-341630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SSI har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nedskrevne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retninglinjer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for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brug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muligheder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for at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søge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om at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benytte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AI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på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nye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måder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eller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nye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sammenhænge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marL="683895" lvl="1" indent="-34163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SSI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bruger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AI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seriøst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- se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fx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  <a:hlinkClick r:id="rId2"/>
              </a:rPr>
              <a:t>blodforgiftningsprojekt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  <a:hlinkClick r:id="rId2"/>
              </a:rPr>
              <a:t> med AI-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  <a:hlinkClick r:id="rId2"/>
              </a:rPr>
              <a:t>brug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683895" lvl="1" indent="-34163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SSI har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godkendt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AI-prompt. </a:t>
            </a:r>
            <a:endParaRPr lang="en-US" dirty="0">
              <a:ea typeface="Calibri"/>
              <a:cs typeface="Calibri"/>
            </a:endParaRPr>
          </a:p>
          <a:p>
            <a:pPr marL="341630" indent="-341630"/>
            <a:endParaRPr lang="en-US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2645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EA3BE-0623-3889-2644-F716183F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err="1">
                <a:latin typeface="Calibri"/>
                <a:ea typeface="Calibri"/>
                <a:cs typeface="Calibri"/>
              </a:rPr>
              <a:t>Hvem</a:t>
            </a:r>
            <a:r>
              <a:rPr lang="en-US">
                <a:latin typeface="Calibri"/>
                <a:ea typeface="Calibri"/>
                <a:cs typeface="Calibri"/>
              </a:rPr>
              <a:t> er Steen </a:t>
            </a:r>
            <a:r>
              <a:rPr lang="en-US" err="1">
                <a:latin typeface="Calibri"/>
                <a:ea typeface="Calibri"/>
                <a:cs typeface="Calibri"/>
              </a:rPr>
              <a:t>Hulthin</a:t>
            </a:r>
            <a:r>
              <a:rPr lang="en-US">
                <a:latin typeface="Calibri"/>
                <a:ea typeface="Calibri"/>
                <a:cs typeface="Calibri"/>
              </a:rPr>
              <a:t> Rasmussen?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321C7-DE43-DA87-97C8-11F4CC7E5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929" y="1775011"/>
            <a:ext cx="6471781" cy="4538866"/>
          </a:xfrm>
        </p:spPr>
        <p:txBody>
          <a:bodyPr/>
          <a:lstStyle/>
          <a:p>
            <a:pPr marL="341630" indent="-341630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Steen er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datadomptør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/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udvikler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/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kaffedrikker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marL="341630" indent="-341630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Steen 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arbejder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til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daglig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med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datapipelines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udvikling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af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dashboards</a:t>
            </a:r>
            <a:endParaRPr lang="en-US" dirty="0">
              <a:ea typeface="Calibri"/>
            </a:endParaRPr>
          </a:p>
          <a:p>
            <a:pPr marL="341630" indent="-341630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Steen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synes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AI er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lige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dele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fremtiden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et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fantastisk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værktøj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skræmmende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fascinerende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kildekritikfremkaldende</a:t>
            </a:r>
            <a:endParaRPr lang="en-US" dirty="0">
              <a:ea typeface="Calibri"/>
            </a:endParaRPr>
          </a:p>
          <a:p>
            <a:pPr marL="341630" indent="-341630">
              <a:lnSpc>
                <a:spcPct val="150000"/>
              </a:lnSpc>
            </a:pPr>
            <a:endParaRPr lang="en-US" dirty="0">
              <a:ea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EF41A1-E6BB-2565-F429-D6FFC1464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42" y="1775011"/>
            <a:ext cx="4536279" cy="453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464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1E846-52CA-2B0D-FF23-25DBFCF4A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Mission briefing </a:t>
            </a:r>
            <a:r>
              <a:rPr lang="en-US" err="1">
                <a:latin typeface="Calibri"/>
                <a:ea typeface="Calibri"/>
                <a:cs typeface="Calibri"/>
              </a:rPr>
              <a:t>og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ambitionen</a:t>
            </a:r>
            <a:endParaRPr lang="en-US" err="1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AB663-BD64-8E36-D77C-A6646F25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9" y="1183341"/>
            <a:ext cx="11103711" cy="5130536"/>
          </a:xfrm>
        </p:spPr>
        <p:txBody>
          <a:bodyPr>
            <a:normAutofit/>
          </a:bodyPr>
          <a:lstStyle/>
          <a:p>
            <a:pPr marL="341630" indent="-341630"/>
            <a:r>
              <a:rPr lang="en-US" dirty="0" err="1">
                <a:ea typeface="Calibri"/>
                <a:cs typeface="Arial"/>
              </a:rPr>
              <a:t>Mål</a:t>
            </a:r>
            <a:r>
              <a:rPr lang="en-US" dirty="0">
                <a:ea typeface="Calibri"/>
                <a:cs typeface="Arial"/>
              </a:rPr>
              <a:t>: </a:t>
            </a:r>
            <a:r>
              <a:rPr lang="en-US" dirty="0" err="1">
                <a:ea typeface="Calibri"/>
                <a:cs typeface="Arial"/>
              </a:rPr>
              <a:t>bygge</a:t>
            </a:r>
            <a:r>
              <a:rPr lang="en-US" dirty="0">
                <a:ea typeface="Calibri"/>
                <a:cs typeface="Arial"/>
              </a:rPr>
              <a:t> dashboards </a:t>
            </a:r>
            <a:r>
              <a:rPr lang="en-US" dirty="0" err="1">
                <a:ea typeface="Calibri"/>
                <a:cs typeface="Arial"/>
              </a:rPr>
              <a:t>hurtigt</a:t>
            </a:r>
            <a:r>
              <a:rPr lang="en-US" dirty="0">
                <a:ea typeface="Calibri"/>
                <a:cs typeface="Arial"/>
              </a:rPr>
              <a:t> </a:t>
            </a:r>
            <a:r>
              <a:rPr lang="en-US" dirty="0" err="1">
                <a:ea typeface="Calibri"/>
                <a:cs typeface="Arial"/>
              </a:rPr>
              <a:t>og</a:t>
            </a:r>
            <a:r>
              <a:rPr lang="en-US" dirty="0">
                <a:ea typeface="Calibri"/>
                <a:cs typeface="Arial"/>
              </a:rPr>
              <a:t> spare </a:t>
            </a:r>
            <a:r>
              <a:rPr lang="en-US" dirty="0" err="1">
                <a:ea typeface="Calibri"/>
                <a:cs typeface="Arial"/>
              </a:rPr>
              <a:t>Kortdage-deltagerne</a:t>
            </a:r>
            <a:r>
              <a:rPr lang="en-US" dirty="0">
                <a:ea typeface="Calibri"/>
                <a:cs typeface="Arial"/>
              </a:rPr>
              <a:t> for </a:t>
            </a:r>
            <a:r>
              <a:rPr lang="en-US" dirty="0" err="1">
                <a:ea typeface="Calibri"/>
                <a:cs typeface="Arial"/>
              </a:rPr>
              <a:t>faldgruberne</a:t>
            </a:r>
            <a:endParaRPr lang="en-US" dirty="0">
              <a:ea typeface="Calibri"/>
              <a:cs typeface="Arial"/>
            </a:endParaRPr>
          </a:p>
          <a:p>
            <a:pPr marL="341630" indent="-341630"/>
            <a:r>
              <a:rPr lang="en-US" dirty="0">
                <a:ea typeface="Calibri"/>
                <a:cs typeface="Calibri"/>
              </a:rPr>
              <a:t>Data: COVID-19 </a:t>
            </a:r>
            <a:r>
              <a:rPr lang="en-US" dirty="0" err="1">
                <a:ea typeface="Calibri"/>
                <a:cs typeface="Calibri"/>
              </a:rPr>
              <a:t>tal</a:t>
            </a:r>
            <a:r>
              <a:rPr lang="en-US" dirty="0">
                <a:ea typeface="Calibri"/>
                <a:cs typeface="Calibri"/>
              </a:rPr>
              <a:t> for </a:t>
            </a:r>
            <a:r>
              <a:rPr lang="en-US" dirty="0" err="1">
                <a:ea typeface="Calibri"/>
                <a:cs typeface="Calibri"/>
              </a:rPr>
              <a:t>indlæggelser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og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død</a:t>
            </a:r>
            <a:endParaRPr lang="en-US" dirty="0">
              <a:ea typeface="Calibri"/>
            </a:endParaRPr>
          </a:p>
          <a:p>
            <a:pPr marL="683630" lvl="1" indent="-341630"/>
            <a:r>
              <a:rPr lang="en-US" sz="1800" dirty="0" err="1">
                <a:ea typeface="Calibri"/>
                <a:cs typeface="Calibri"/>
              </a:rPr>
              <a:t>Globalt</a:t>
            </a:r>
            <a:r>
              <a:rPr lang="en-US" sz="1800" dirty="0">
                <a:ea typeface="Calibri"/>
                <a:cs typeface="Calibri"/>
              </a:rPr>
              <a:t>: Our world in data (OWID)</a:t>
            </a:r>
          </a:p>
          <a:p>
            <a:pPr marL="683630" lvl="1" indent="-341630"/>
            <a:r>
              <a:rPr lang="en-US" sz="1800" dirty="0">
                <a:ea typeface="Calibri"/>
                <a:cs typeface="Calibri"/>
              </a:rPr>
              <a:t>EU: ECDC - European Centre for Disease Prevention and Control </a:t>
            </a:r>
          </a:p>
          <a:p>
            <a:pPr marL="683630" lvl="1" indent="-341630"/>
            <a:r>
              <a:rPr lang="en-US" sz="1800" dirty="0">
                <a:ea typeface="Calibri"/>
                <a:cs typeface="Calibri"/>
              </a:rPr>
              <a:t>Dansk: SSI </a:t>
            </a:r>
            <a:endParaRPr lang="en-US" sz="1800" dirty="0">
              <a:ea typeface="Calibri"/>
            </a:endParaRPr>
          </a:p>
          <a:p>
            <a:pPr marL="341630" indent="-341630"/>
            <a:r>
              <a:rPr lang="en-US" dirty="0" err="1">
                <a:ea typeface="Calibri"/>
                <a:cs typeface="Calibri"/>
              </a:rPr>
              <a:t>Værktøjer</a:t>
            </a:r>
            <a:r>
              <a:rPr lang="en-US" dirty="0">
                <a:ea typeface="Calibri"/>
                <a:cs typeface="Calibri"/>
              </a:rPr>
              <a:t>: </a:t>
            </a:r>
            <a:r>
              <a:rPr lang="en-US" dirty="0" err="1">
                <a:ea typeface="Calibri"/>
                <a:cs typeface="Calibri"/>
              </a:rPr>
              <a:t>Streamlit</a:t>
            </a:r>
            <a:r>
              <a:rPr lang="en-US" dirty="0">
                <a:ea typeface="Calibri"/>
                <a:cs typeface="Calibri"/>
              </a:rPr>
              <a:t>, Shiny, Dash, ArcGIS (API + Dashboards/Viewer), Power BI</a:t>
            </a:r>
            <a:endParaRPr lang="en-US" dirty="0">
              <a:ea typeface="Calibri"/>
            </a:endParaRPr>
          </a:p>
          <a:p>
            <a:pPr marL="341630" indent="-341630"/>
            <a:r>
              <a:rPr lang="en-US" dirty="0" err="1">
                <a:ea typeface="Calibri"/>
                <a:cs typeface="Calibri"/>
              </a:rPr>
              <a:t>Tidsramme</a:t>
            </a:r>
            <a:r>
              <a:rPr lang="en-US" dirty="0">
                <a:ea typeface="Calibri"/>
                <a:cs typeface="Calibri"/>
              </a:rPr>
              <a:t>: 5 </a:t>
            </a:r>
            <a:r>
              <a:rPr lang="en-US" dirty="0" err="1">
                <a:ea typeface="Calibri"/>
                <a:cs typeface="Calibri"/>
              </a:rPr>
              <a:t>fredage</a:t>
            </a:r>
            <a:r>
              <a:rPr lang="en-US" dirty="0">
                <a:ea typeface="Calibri"/>
                <a:cs typeface="Calibri"/>
              </a:rPr>
              <a:t> (</a:t>
            </a:r>
            <a:r>
              <a:rPr lang="en-US" dirty="0" err="1">
                <a:ea typeface="Calibri"/>
                <a:cs typeface="Calibri"/>
              </a:rPr>
              <a:t>som</a:t>
            </a:r>
            <a:r>
              <a:rPr lang="en-US" dirty="0">
                <a:ea typeface="Calibri"/>
                <a:cs typeface="Calibri"/>
              </a:rPr>
              <a:t> var </a:t>
            </a:r>
            <a:r>
              <a:rPr lang="en-US" dirty="0" err="1">
                <a:ea typeface="Calibri"/>
                <a:cs typeface="Calibri"/>
              </a:rPr>
              <a:t>lige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underkanten</a:t>
            </a:r>
            <a:r>
              <a:rPr lang="en-US" dirty="0">
                <a:ea typeface="Calibri"/>
                <a:cs typeface="Calibri"/>
              </a:rPr>
              <a:t>) → 20 </a:t>
            </a:r>
            <a:r>
              <a:rPr lang="en-US" dirty="0" err="1">
                <a:ea typeface="Calibri"/>
                <a:cs typeface="Calibri"/>
              </a:rPr>
              <a:t>minutters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præsentation</a:t>
            </a:r>
            <a:endParaRPr lang="en-US" dirty="0"/>
          </a:p>
          <a:p>
            <a:pPr marL="341630" indent="-341630"/>
            <a:endParaRPr lang="en-US" dirty="0">
              <a:ea typeface="Calibri"/>
            </a:endParaRPr>
          </a:p>
          <a:p>
            <a:pPr marL="341630" indent="-341630"/>
            <a:r>
              <a:rPr lang="en-US" dirty="0" err="1">
                <a:ea typeface="Calibri"/>
                <a:cs typeface="Arial"/>
              </a:rPr>
              <a:t>Ambitionen</a:t>
            </a:r>
            <a:r>
              <a:rPr lang="en-US" dirty="0">
                <a:ea typeface="Calibri"/>
                <a:cs typeface="Arial"/>
              </a:rPr>
              <a:t> var (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det var ret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ambitiøst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...)</a:t>
            </a:r>
            <a:endParaRPr lang="en-US" dirty="0">
              <a:solidFill>
                <a:srgbClr val="000000"/>
              </a:solidFill>
              <a:latin typeface="Calibri"/>
              <a:ea typeface="Calibri"/>
            </a:endParaRPr>
          </a:p>
          <a:p>
            <a:pPr marL="683895" indent="-341630"/>
            <a:r>
              <a:rPr lang="en-US" dirty="0">
                <a:ea typeface="+mn-lt"/>
                <a:cs typeface="+mn-lt"/>
              </a:rPr>
              <a:t>At </a:t>
            </a:r>
            <a:r>
              <a:rPr lang="en-US" dirty="0" err="1">
                <a:ea typeface="+mn-lt"/>
                <a:cs typeface="+mn-lt"/>
              </a:rPr>
              <a:t>lære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forstå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videreformidle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hvad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jeg</a:t>
            </a:r>
            <a:r>
              <a:rPr lang="en-US" dirty="0">
                <a:ea typeface="+mn-lt"/>
                <a:cs typeface="+mn-lt"/>
              </a:rPr>
              <a:t> har </a:t>
            </a:r>
            <a:r>
              <a:rPr lang="en-US" dirty="0" err="1">
                <a:ea typeface="+mn-lt"/>
                <a:cs typeface="+mn-lt"/>
              </a:rPr>
              <a:t>lært</a:t>
            </a:r>
            <a:endParaRPr lang="en-US" dirty="0">
              <a:ea typeface="Calibri"/>
            </a:endParaRPr>
          </a:p>
          <a:p>
            <a:pPr marL="683895" lvl="1" indent="-341630"/>
            <a:r>
              <a:rPr lang="en-US" dirty="0">
                <a:ea typeface="+mn-lt"/>
                <a:cs typeface="+mn-lt"/>
              </a:rPr>
              <a:t>At lade alt </a:t>
            </a:r>
            <a:r>
              <a:rPr lang="en-US" dirty="0" err="1">
                <a:ea typeface="+mn-lt"/>
                <a:cs typeface="+mn-lt"/>
              </a:rPr>
              <a:t>materiale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være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tilgængelig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683895" lvl="1" indent="-341630"/>
            <a:r>
              <a:rPr lang="en-US" dirty="0">
                <a:ea typeface="+mn-lt"/>
                <a:cs typeface="+mn-lt"/>
              </a:rPr>
              <a:t>At </a:t>
            </a:r>
            <a:r>
              <a:rPr lang="en-US" dirty="0" err="1">
                <a:ea typeface="+mn-lt"/>
                <a:cs typeface="+mn-lt"/>
              </a:rPr>
              <a:t>komme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så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langt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muligt</a:t>
            </a:r>
            <a:endParaRPr lang="en-US" dirty="0"/>
          </a:p>
          <a:p>
            <a:pPr marL="683895" lvl="1" indent="-341630"/>
            <a:r>
              <a:rPr lang="en-US" dirty="0">
                <a:ea typeface="+mn-lt"/>
                <a:cs typeface="+mn-lt"/>
              </a:rPr>
              <a:t>At have det </a:t>
            </a:r>
            <a:r>
              <a:rPr lang="en-US" dirty="0" err="1">
                <a:ea typeface="+mn-lt"/>
                <a:cs typeface="+mn-lt"/>
              </a:rPr>
              <a:t>sjovt</a:t>
            </a:r>
            <a:r>
              <a:rPr lang="en-US" dirty="0">
                <a:ea typeface="+mn-lt"/>
                <a:cs typeface="+mn-lt"/>
              </a:rPr>
              <a:t> 🎉</a:t>
            </a:r>
            <a:endParaRPr lang="en-US" dirty="0"/>
          </a:p>
          <a:p>
            <a:pPr marL="683895" lvl="1" indent="-341630">
              <a:buFont typeface="Courier New" panose="020B0604020202020204" pitchFamily="34" charset="0"/>
              <a:buChar char="o"/>
            </a:pPr>
            <a:endParaRPr lang="en-US" dirty="0"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535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4A3439-05F0-1C77-EC57-467B2AA49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GB" err="1">
                <a:latin typeface="Calibri"/>
                <a:ea typeface="Calibri"/>
                <a:cs typeface="Calibri"/>
              </a:rPr>
              <a:t>Første</a:t>
            </a:r>
            <a:r>
              <a:rPr lang="en-GB">
                <a:latin typeface="Calibri"/>
                <a:ea typeface="Calibri"/>
                <a:cs typeface="Calibri"/>
              </a:rPr>
              <a:t> aha-</a:t>
            </a:r>
            <a:r>
              <a:rPr lang="en-GB" err="1">
                <a:latin typeface="Calibri"/>
                <a:ea typeface="Calibri"/>
                <a:cs typeface="Calibri"/>
              </a:rPr>
              <a:t>oplevelse</a:t>
            </a:r>
            <a:r>
              <a:rPr lang="en-GB">
                <a:latin typeface="Calibri"/>
                <a:ea typeface="Calibri"/>
                <a:cs typeface="Calibri"/>
              </a:rPr>
              <a:t> (</a:t>
            </a:r>
            <a:r>
              <a:rPr lang="en-GB" err="1">
                <a:latin typeface="Calibri"/>
                <a:ea typeface="Calibri"/>
                <a:cs typeface="Calibri"/>
              </a:rPr>
              <a:t>Optimisme</a:t>
            </a:r>
            <a:r>
              <a:rPr lang="en-GB">
                <a:latin typeface="Calibri"/>
                <a:ea typeface="Calibri"/>
                <a:cs typeface="Calibri"/>
              </a:rPr>
              <a:t> -&gt; realisme)</a:t>
            </a:r>
            <a:endParaRPr lang="en-US"/>
          </a:p>
          <a:p>
            <a:endParaRPr lang="en-GB">
              <a:ea typeface="Calibri"/>
              <a:cs typeface="Calibri"/>
            </a:endParaRP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26E8365-DE1F-A167-5123-F4B83D38D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9" y="1848808"/>
            <a:ext cx="11103711" cy="4465069"/>
          </a:xfrm>
        </p:spPr>
        <p:txBody>
          <a:bodyPr/>
          <a:lstStyle/>
          <a:p>
            <a:pPr marL="341630" indent="-341630"/>
            <a:r>
              <a:rPr lang="en-GB" dirty="0">
                <a:ea typeface="+mn-lt"/>
                <a:cs typeface="+mn-lt"/>
              </a:rPr>
              <a:t>Steen: "Lad AI lave </a:t>
            </a:r>
            <a:r>
              <a:rPr lang="en-GB" dirty="0" err="1">
                <a:ea typeface="+mn-lt"/>
                <a:cs typeface="+mn-lt"/>
              </a:rPr>
              <a:t>en</a:t>
            </a:r>
            <a:r>
              <a:rPr lang="en-GB" dirty="0">
                <a:ea typeface="+mn-lt"/>
                <a:cs typeface="+mn-lt"/>
              </a:rPr>
              <a:t> PowerPoint-</a:t>
            </a:r>
            <a:r>
              <a:rPr lang="en-GB" dirty="0" err="1">
                <a:ea typeface="+mn-lt"/>
                <a:cs typeface="+mn-lt"/>
              </a:rPr>
              <a:t>præsentation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i</a:t>
            </a:r>
            <a:r>
              <a:rPr lang="en-GB" dirty="0">
                <a:ea typeface="+mn-lt"/>
                <a:cs typeface="+mn-lt"/>
              </a:rPr>
              <a:t> SSI </a:t>
            </a:r>
            <a:r>
              <a:rPr lang="en-GB" dirty="0" err="1">
                <a:ea typeface="+mn-lt"/>
                <a:cs typeface="+mn-lt"/>
              </a:rPr>
              <a:t>skabelonen</a:t>
            </a:r>
            <a:r>
              <a:rPr lang="en-GB" dirty="0">
                <a:ea typeface="+mn-lt"/>
                <a:cs typeface="+mn-lt"/>
              </a:rPr>
              <a:t>..."</a:t>
            </a:r>
            <a:endParaRPr lang="en-US" dirty="0"/>
          </a:p>
          <a:p>
            <a:pPr marL="341630" indent="-341630"/>
            <a:r>
              <a:rPr lang="en-GB" dirty="0">
                <a:ea typeface="+mn-lt"/>
                <a:cs typeface="+mn-lt"/>
              </a:rPr>
              <a:t>2 timer </a:t>
            </a:r>
            <a:r>
              <a:rPr lang="en-GB" dirty="0" err="1">
                <a:ea typeface="+mn-lt"/>
                <a:cs typeface="+mn-lt"/>
              </a:rPr>
              <a:t>og</a:t>
            </a:r>
            <a:r>
              <a:rPr lang="en-GB" dirty="0">
                <a:ea typeface="+mn-lt"/>
                <a:cs typeface="+mn-lt"/>
              </a:rPr>
              <a:t> mange </a:t>
            </a:r>
            <a:r>
              <a:rPr lang="en-GB" dirty="0" err="1">
                <a:ea typeface="+mn-lt"/>
                <a:cs typeface="+mn-lt"/>
              </a:rPr>
              <a:t>forsøg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senere</a:t>
            </a:r>
            <a:r>
              <a:rPr lang="en-GB" dirty="0">
                <a:ea typeface="+mn-lt"/>
                <a:cs typeface="+mn-lt"/>
              </a:rPr>
              <a:t>: "</a:t>
            </a:r>
            <a:r>
              <a:rPr lang="en-GB" dirty="0" err="1">
                <a:ea typeface="+mn-lt"/>
                <a:cs typeface="+mn-lt"/>
              </a:rPr>
              <a:t>Nå</a:t>
            </a:r>
            <a:r>
              <a:rPr lang="en-GB" dirty="0">
                <a:ea typeface="+mn-lt"/>
                <a:cs typeface="+mn-lt"/>
              </a:rPr>
              <a:t>, </a:t>
            </a:r>
            <a:r>
              <a:rPr lang="en-GB" dirty="0" err="1">
                <a:ea typeface="+mn-lt"/>
                <a:cs typeface="+mn-lt"/>
              </a:rPr>
              <a:t>måske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er</a:t>
            </a:r>
            <a:r>
              <a:rPr lang="en-GB" dirty="0">
                <a:ea typeface="+mn-lt"/>
                <a:cs typeface="+mn-lt"/>
              </a:rPr>
              <a:t> AI </a:t>
            </a:r>
            <a:r>
              <a:rPr lang="en-GB" dirty="0" err="1">
                <a:ea typeface="+mn-lt"/>
                <a:cs typeface="+mn-lt"/>
              </a:rPr>
              <a:t>bedre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til</a:t>
            </a:r>
            <a:r>
              <a:rPr lang="en-GB" dirty="0">
                <a:ea typeface="+mn-lt"/>
                <a:cs typeface="+mn-lt"/>
              </a:rPr>
              <a:t> at </a:t>
            </a:r>
            <a:r>
              <a:rPr lang="en-GB" dirty="0" err="1">
                <a:ea typeface="+mn-lt"/>
                <a:cs typeface="+mn-lt"/>
              </a:rPr>
              <a:t>skrive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kode</a:t>
            </a:r>
            <a:r>
              <a:rPr lang="en-GB" dirty="0">
                <a:ea typeface="+mn-lt"/>
                <a:cs typeface="+mn-lt"/>
              </a:rPr>
              <a:t> end PowerPoint..."</a:t>
            </a:r>
            <a:endParaRPr lang="en-GB" dirty="0"/>
          </a:p>
          <a:p>
            <a:pPr marL="341630" indent="-341630"/>
            <a:endParaRPr lang="en-GB" dirty="0">
              <a:ea typeface="Calibri"/>
              <a:cs typeface="Arial"/>
            </a:endParaRPr>
          </a:p>
          <a:p>
            <a:pPr marL="341630" indent="-341630"/>
            <a:endParaRPr lang="en-GB" dirty="0">
              <a:ea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6B8D8C-8853-90A0-FCDE-5830B4E03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100388"/>
            <a:ext cx="1352550" cy="3209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CB495B-D9EA-CD41-8BC8-CE14FA518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925" y="3105150"/>
            <a:ext cx="1466850" cy="3209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9886B2-222D-FB51-49BE-D1E7939A8660}"/>
              </a:ext>
            </a:extLst>
          </p:cNvPr>
          <p:cNvSpPr txBox="1"/>
          <p:nvPr/>
        </p:nvSpPr>
        <p:spPr>
          <a:xfrm>
            <a:off x="2630465" y="3319397"/>
            <a:ext cx="578284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&lt;=    </a:t>
            </a:r>
            <a:r>
              <a:rPr lang="en-US" err="1">
                <a:ea typeface="Calibri"/>
                <a:cs typeface="Calibri"/>
              </a:rPr>
              <a:t>Skabelonen</a:t>
            </a:r>
            <a:r>
              <a:rPr lang="en-US">
                <a:ea typeface="Calibri"/>
                <a:cs typeface="Calibri"/>
              </a:rPr>
              <a:t> er </a:t>
            </a:r>
            <a:r>
              <a:rPr lang="en-US" err="1">
                <a:ea typeface="Calibri"/>
                <a:cs typeface="Calibri"/>
              </a:rPr>
              <a:t>ikke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rørt</a:t>
            </a:r>
            <a:r>
              <a:rPr lang="en-US">
                <a:ea typeface="Calibri"/>
                <a:cs typeface="Calibri"/>
              </a:rPr>
              <a:t>, men </a:t>
            </a:r>
            <a:r>
              <a:rPr lang="en-US" err="1">
                <a:ea typeface="Calibri"/>
                <a:cs typeface="Calibri"/>
              </a:rPr>
              <a:t>til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gengæld</a:t>
            </a:r>
            <a:r>
              <a:rPr lang="en-US">
                <a:ea typeface="Calibri"/>
                <a:cs typeface="Calibri"/>
              </a:rPr>
              <a:t> er der </a:t>
            </a:r>
            <a:r>
              <a:rPr lang="en-US" err="1">
                <a:ea typeface="Calibri"/>
                <a:cs typeface="Calibri"/>
              </a:rPr>
              <a:t>tilføjet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en</a:t>
            </a:r>
            <a:r>
              <a:rPr lang="en-US">
                <a:ea typeface="Calibri"/>
                <a:cs typeface="Calibri"/>
              </a:rPr>
              <a:t> masse slides der </a:t>
            </a:r>
            <a:r>
              <a:rPr lang="en-US" err="1">
                <a:ea typeface="Calibri"/>
                <a:cs typeface="Calibri"/>
              </a:rPr>
              <a:t>ikke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følger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skabelonen</a:t>
            </a:r>
            <a:r>
              <a:rPr lang="en-US">
                <a:ea typeface="Calibri"/>
                <a:cs typeface="Calibri"/>
              </a:rPr>
              <a:t>.   =&gt;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294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07B8-31A9-8191-2CEA-180143E78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dirty="0" err="1">
                <a:latin typeface="Calibri"/>
                <a:ea typeface="Calibri"/>
                <a:cs typeface="Calibri"/>
              </a:rPr>
              <a:t>Hvad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er</a:t>
            </a:r>
            <a:r>
              <a:rPr lang="en-US" dirty="0">
                <a:latin typeface="Calibri"/>
                <a:ea typeface="Calibri"/>
                <a:cs typeface="Calibri"/>
              </a:rPr>
              <a:t> AI-</a:t>
            </a:r>
            <a:r>
              <a:rPr lang="en-US" dirty="0" err="1">
                <a:latin typeface="Calibri"/>
                <a:ea typeface="Calibri"/>
                <a:cs typeface="Calibri"/>
              </a:rPr>
              <a:t>assisteret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udvikling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og</a:t>
            </a:r>
            <a:r>
              <a:rPr lang="en-US" dirty="0">
                <a:latin typeface="Calibri"/>
                <a:ea typeface="Calibri"/>
                <a:cs typeface="Calibri"/>
              </a:rPr>
              <a:t> “Vibe Coding”?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7AD1F-6B04-786A-D6BC-23E20B97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74" y="1931402"/>
            <a:ext cx="11103711" cy="4392000"/>
          </a:xfrm>
        </p:spPr>
        <p:txBody>
          <a:bodyPr>
            <a:normAutofit/>
          </a:bodyPr>
          <a:lstStyle/>
          <a:p>
            <a:pPr marL="341630" indent="-341630"/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AI-</a:t>
            </a:r>
            <a:r>
              <a:rPr lang="en-US" dirty="0" err="1">
                <a:solidFill>
                  <a:srgbClr val="000000"/>
                </a:solidFill>
                <a:ea typeface="Calibri"/>
                <a:cs typeface="Calibri"/>
              </a:rPr>
              <a:t>assisteret</a:t>
            </a:r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Calibri"/>
                <a:cs typeface="Calibri"/>
              </a:rPr>
              <a:t>udvikling</a:t>
            </a:r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: </a:t>
            </a:r>
            <a:r>
              <a:rPr lang="en-US" dirty="0" err="1">
                <a:solidFill>
                  <a:srgbClr val="000000"/>
                </a:solidFill>
                <a:ea typeface="Calibri"/>
                <a:cs typeface="Calibri"/>
              </a:rPr>
              <a:t>manuel</a:t>
            </a:r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 prompt-workflow </a:t>
            </a:r>
            <a:r>
              <a:rPr lang="en-US" dirty="0" err="1">
                <a:solidFill>
                  <a:srgbClr val="000000"/>
                </a:solidFill>
                <a:ea typeface="Calibri"/>
                <a:cs typeface="Calibri"/>
              </a:rPr>
              <a:t>udenfor</a:t>
            </a:r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Calibri"/>
                <a:cs typeface="Calibri"/>
              </a:rPr>
              <a:t>IDE’et</a:t>
            </a:r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 (den "</a:t>
            </a:r>
            <a:r>
              <a:rPr lang="en-US" dirty="0" err="1">
                <a:solidFill>
                  <a:srgbClr val="000000"/>
                </a:solidFill>
                <a:ea typeface="Calibri"/>
                <a:cs typeface="Calibri"/>
              </a:rPr>
              <a:t>almindelige"prompt</a:t>
            </a:r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)</a:t>
            </a:r>
          </a:p>
          <a:p>
            <a:pPr marL="341630" indent="-341630"/>
            <a:endParaRPr lang="en-US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marL="341630" indent="-341630"/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Vibe Coding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et ret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nyt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udtryk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(2025),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som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blev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"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opfundet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"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af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co-founder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af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OpenAI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som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firmaet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bag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ChatGPT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) </a:t>
            </a:r>
          </a:p>
          <a:p>
            <a:pPr marL="341630" indent="-341630"/>
            <a:endParaRPr lang="en-US" dirty="0">
              <a:ea typeface="Calibri"/>
            </a:endParaRPr>
          </a:p>
          <a:p>
            <a:pPr marL="341630" indent="-341630"/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Konceptet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at AI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skriver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koden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du - 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som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udvikler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-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ikke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nødvendigvis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forstår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alt (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eller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noget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overhovedet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af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koden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</a:t>
            </a:r>
            <a:endParaRPr lang="en-US" dirty="0">
              <a:ea typeface="Calibri"/>
            </a:endParaRPr>
          </a:p>
          <a:p>
            <a:pPr marL="341630" indent="-341630"/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1630" indent="-341630"/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Vibe coding: AI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som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makker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 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IDE’et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* (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autofuldførelse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chat,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kodeforslag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  <a:endParaRPr lang="en-US" dirty="0">
              <a:ea typeface="Calibri"/>
            </a:endParaRPr>
          </a:p>
          <a:p>
            <a:pPr marL="341630" indent="-341630"/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* IDE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Intergrated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Development Environment (et program man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skriver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kode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  <a:endParaRPr lang="en-US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074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51B6F-CB38-E7C7-B1F1-3CF81E118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Hvordan</a:t>
            </a:r>
            <a:r>
              <a:rPr lang="en-US">
                <a:ea typeface="Calibri"/>
                <a:cs typeface="Calibri"/>
              </a:rPr>
              <a:t> ser AI-</a:t>
            </a:r>
            <a:r>
              <a:rPr lang="en-US" err="1">
                <a:ea typeface="Calibri"/>
                <a:cs typeface="Calibri"/>
              </a:rPr>
              <a:t>assiteret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udvikling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ud</a:t>
            </a:r>
            <a:r>
              <a:rPr lang="en-US">
                <a:ea typeface="Calibri"/>
                <a:cs typeface="Calibri"/>
              </a:rPr>
              <a:t>?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8CEB831-9C17-8313-650C-732FE82D3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1755" y="1586596"/>
            <a:ext cx="8582025" cy="471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172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62B92-B5F3-81AA-00EE-5E4C65485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err="1">
                <a:latin typeface="Calibri"/>
                <a:ea typeface="Calibri"/>
                <a:cs typeface="Calibri"/>
              </a:rPr>
              <a:t>Hvordan</a:t>
            </a:r>
            <a:r>
              <a:rPr lang="en-US">
                <a:latin typeface="Calibri"/>
                <a:ea typeface="Calibri"/>
                <a:cs typeface="Calibri"/>
              </a:rPr>
              <a:t> ser Vibe Coding ud?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FC32C97-8212-212E-385B-702D9101A2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3973" y="1584552"/>
            <a:ext cx="8569889" cy="496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28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B8AF4-606C-49D3-028B-07ED9C2F9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53357"/>
            <a:ext cx="9290274" cy="1079608"/>
          </a:xfrm>
        </p:spPr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Resultaterne</a:t>
            </a:r>
            <a:r>
              <a:rPr lang="en-US" dirty="0">
                <a:ea typeface="Calibri"/>
                <a:cs typeface="Calibri"/>
              </a:rPr>
              <a:t> – </a:t>
            </a:r>
            <a:r>
              <a:rPr lang="en-US" dirty="0" err="1">
                <a:ea typeface="Calibri"/>
                <a:cs typeface="Calibri"/>
              </a:rPr>
              <a:t>kunne</a:t>
            </a:r>
            <a:r>
              <a:rPr lang="en-US" dirty="0">
                <a:ea typeface="Calibri"/>
                <a:cs typeface="Calibri"/>
              </a:rPr>
              <a:t> AI lave dashboards med </a:t>
            </a:r>
            <a:r>
              <a:rPr lang="en-US" dirty="0" err="1">
                <a:ea typeface="Calibri"/>
                <a:cs typeface="Calibri"/>
              </a:rPr>
              <a:t>kort</a:t>
            </a:r>
            <a:r>
              <a:rPr lang="en-US" dirty="0">
                <a:ea typeface="Calibri"/>
                <a:cs typeface="Calibri"/>
              </a:rPr>
              <a:t>?</a:t>
            </a:r>
            <a:br>
              <a:rPr lang="en-US" dirty="0">
                <a:ea typeface="Calibri"/>
                <a:cs typeface="Calibri"/>
              </a:rPr>
            </a:br>
            <a:r>
              <a:rPr lang="en-US" dirty="0" err="1">
                <a:ea typeface="Calibri"/>
                <a:cs typeface="Calibri"/>
              </a:rPr>
              <a:t>Streamlit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50E0F-BAEF-367F-C670-B45273F8F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630" indent="-341630"/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Prompt: </a:t>
            </a:r>
            <a:r>
              <a:rPr lang="en-US" i="1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Lad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os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lave dashboards. Lad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os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starte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med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Streamlit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.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Streamlit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skal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være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med OWID data. Der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skal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øverst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være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et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kort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over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verden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.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Landene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skal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være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farvet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efter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indlæggelser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per capita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og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skraveret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efter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dødsfald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per capita (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hvis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det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er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muligt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). Der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skal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være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en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periodevælger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,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hvor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der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kan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vælges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år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og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måned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.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Tallene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skal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summeres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over den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valgte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periode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. Det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skal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være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muligt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at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vælge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et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specifikt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land. Under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kortet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skal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der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være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en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graf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der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viser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indlæggelser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og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død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per capita over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tid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(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summeret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på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månedsniveau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) for det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valgte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land (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og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ellers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for hele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verden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)."</a:t>
            </a:r>
          </a:p>
          <a:p>
            <a:pPr marL="341630" indent="-341630"/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AI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kommer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med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plan -&gt; Prompt: "Make it so!"</a:t>
            </a:r>
          </a:p>
          <a:p>
            <a:pPr marL="341630" indent="-341630"/>
            <a:endParaRPr lang="en-US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marL="341630" indent="-341630"/>
            <a:endParaRPr lang="en-US" dirty="0">
              <a:solidFill>
                <a:srgbClr val="000000"/>
              </a:solidFill>
              <a:latin typeface="Calibri"/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551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7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D598D-EC9D-CED8-95FB-24D961E9C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Streamlit</a:t>
            </a:r>
            <a:r>
              <a:rPr lang="en-US">
                <a:ea typeface="Calibri"/>
                <a:cs typeface="Calibri"/>
              </a:rPr>
              <a:t> - screenshot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11684D-6A0E-E966-812F-EFBBEE10EA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6079" y="1162779"/>
            <a:ext cx="6599031" cy="533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575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5E05D-53A8-45E5-856A-FDEE0D1FD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 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2421E-1682-40BF-8D2F-B3C2FFA40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Prompt: "Jeg vil gerne have en app med et kort over Danmark inddelt i regioner. Kortet skal vise et timelapse over indlæggelser over tid baseret på det danske data. Tænker du Dash eller </a:t>
            </a:r>
            <a:r>
              <a:rPr lang="da-DK" dirty="0" err="1"/>
              <a:t>shiny</a:t>
            </a:r>
            <a:r>
              <a:rPr lang="da-DK" dirty="0"/>
              <a:t> til den opgave?"</a:t>
            </a:r>
          </a:p>
          <a:p>
            <a:endParaRPr lang="da-DK" dirty="0"/>
          </a:p>
          <a:p>
            <a:r>
              <a:rPr lang="da-DK" dirty="0"/>
              <a:t>Meget bøvl med </a:t>
            </a:r>
            <a:r>
              <a:rPr lang="da-DK" dirty="0" err="1"/>
              <a:t>geojson</a:t>
            </a:r>
            <a:r>
              <a:rPr lang="da-DK" dirty="0"/>
              <a:t>. </a:t>
            </a:r>
          </a:p>
          <a:p>
            <a:endParaRPr lang="da-DK" dirty="0"/>
          </a:p>
          <a:p>
            <a:r>
              <a:rPr lang="da-DK" dirty="0"/>
              <a:t>Læring: giv AI det data, der skal benyttes, så formatet er korrekt. AI er god til at generere data også, men det er nok ikke i det skema du ønsker.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18162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7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8C19A-E04E-824B-7AD8-5932A2459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Dash - screenshot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B8F942-FFD2-D6D7-61DF-9DDBD01E80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8649" y="1616211"/>
            <a:ext cx="9874684" cy="451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089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5B2E2-6118-ED96-92FD-64D0C6ED4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Shiny – </a:t>
            </a:r>
            <a:r>
              <a:rPr lang="en-US" err="1">
                <a:ea typeface="Calibri"/>
                <a:cs typeface="Calibri"/>
              </a:rPr>
              <a:t>lignede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meget</a:t>
            </a:r>
            <a:r>
              <a:rPr lang="en-US">
                <a:ea typeface="Calibri"/>
                <a:cs typeface="Calibri"/>
              </a:rPr>
              <a:t> Dash dashboardet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AA2FBFD-DA44-5B3F-C1A6-42C69D22C7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9608" y="1608862"/>
            <a:ext cx="10083451" cy="478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89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91FA9-9A30-3961-1157-32B3F8506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ArcGIS – 3D scene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04EA4-3F74-DA7C-4BD6-1C56629C9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630" indent="-341630"/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Living Atlas,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timeslider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og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3D</a:t>
            </a:r>
            <a:endParaRPr lang="en-US" dirty="0"/>
          </a:p>
          <a:p>
            <a:pPr marL="683895" lvl="1" indent="-341630">
              <a:buFont typeface="Courier New" panose="020B0604020202020204" pitchFamily="34" charset="0"/>
              <a:buChar char="o"/>
            </a:pPr>
            <a:endParaRPr lang="en-US" dirty="0">
              <a:ea typeface="+mn-lt"/>
              <a:cs typeface="+mn-lt"/>
            </a:endParaRPr>
          </a:p>
          <a:p>
            <a:pPr marL="683895" lvl="1" indent="-341630">
              <a:buFont typeface="Courier New" panose="020B0604020202020204" pitchFamily="34" charset="0"/>
              <a:buChar char="o"/>
            </a:pPr>
            <a:r>
              <a:rPr lang="en-US" dirty="0" err="1">
                <a:ea typeface="+mn-lt"/>
                <a:cs typeface="+mn-lt"/>
              </a:rPr>
              <a:t>Promptede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generering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af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3D scene. Data </a:t>
            </a:r>
            <a:r>
              <a:rPr lang="en-US" dirty="0" err="1">
                <a:ea typeface="+mn-lt"/>
                <a:cs typeface="+mn-lt"/>
              </a:rPr>
              <a:t>generering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fungerede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rimeligt</a:t>
            </a:r>
            <a:r>
              <a:rPr lang="en-US" dirty="0">
                <a:ea typeface="+mn-lt"/>
                <a:cs typeface="+mn-lt"/>
              </a:rPr>
              <a:t> (med et par </a:t>
            </a:r>
            <a:r>
              <a:rPr lang="en-US" dirty="0" err="1">
                <a:ea typeface="+mn-lt"/>
                <a:cs typeface="+mn-lt"/>
              </a:rPr>
              <a:t>hickups</a:t>
            </a:r>
            <a:r>
              <a:rPr lang="en-US" dirty="0">
                <a:ea typeface="+mn-lt"/>
                <a:cs typeface="+mn-lt"/>
              </a:rPr>
              <a:t>)</a:t>
            </a:r>
          </a:p>
          <a:p>
            <a:pPr marL="683895" lvl="1" indent="-341630">
              <a:buFont typeface="Courier New" panose="020B0604020202020204" pitchFamily="34" charset="0"/>
              <a:buChar char="o"/>
            </a:pPr>
            <a:endParaRPr lang="en-US" dirty="0">
              <a:ea typeface="Calibri"/>
              <a:cs typeface="Arial" panose="020B0604020202020204" pitchFamily="34" charset="0"/>
            </a:endParaRPr>
          </a:p>
          <a:p>
            <a:pPr marL="683895" lvl="1" indent="-341630">
              <a:buFont typeface="Courier New" panose="020B0604020202020204" pitchFamily="34" charset="0"/>
              <a:buChar char="o"/>
            </a:pPr>
            <a:r>
              <a:rPr lang="en-US" dirty="0" err="1">
                <a:ea typeface="+mn-lt"/>
                <a:cs typeface="+mn-lt"/>
              </a:rPr>
              <a:t>Svært</a:t>
            </a:r>
            <a:r>
              <a:rPr lang="en-US" dirty="0">
                <a:ea typeface="+mn-lt"/>
                <a:cs typeface="+mn-lt"/>
              </a:rPr>
              <a:t> at lave </a:t>
            </a:r>
            <a:r>
              <a:rPr lang="en-US" dirty="0" err="1">
                <a:ea typeface="+mn-lt"/>
                <a:cs typeface="+mn-lt"/>
              </a:rPr>
              <a:t>udviklingen</a:t>
            </a:r>
            <a:r>
              <a:rPr lang="en-US" dirty="0">
                <a:ea typeface="+mn-lt"/>
                <a:cs typeface="+mn-lt"/>
              </a:rPr>
              <a:t> med vibe coding - der </a:t>
            </a:r>
            <a:r>
              <a:rPr lang="en-US" dirty="0" err="1">
                <a:ea typeface="+mn-lt"/>
                <a:cs typeface="+mn-lt"/>
              </a:rPr>
              <a:t>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brug</a:t>
            </a:r>
            <a:r>
              <a:rPr lang="en-US" dirty="0">
                <a:ea typeface="+mn-lt"/>
                <a:cs typeface="+mn-lt"/>
              </a:rPr>
              <a:t> for at </a:t>
            </a:r>
            <a:r>
              <a:rPr lang="en-US" dirty="0" err="1">
                <a:ea typeface="+mn-lt"/>
                <a:cs typeface="+mn-lt"/>
              </a:rPr>
              <a:t>klikke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rundt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ArcGIS online</a:t>
            </a:r>
          </a:p>
          <a:p>
            <a:pPr marL="683895" lvl="1" indent="-341630">
              <a:buFont typeface="Courier New" panose="020B0604020202020204" pitchFamily="34" charset="0"/>
              <a:buChar char="o"/>
            </a:pPr>
            <a:endParaRPr lang="en-US" dirty="0">
              <a:ea typeface="Calibri"/>
              <a:cs typeface="Arial" panose="020B0604020202020204" pitchFamily="34" charset="0"/>
            </a:endParaRPr>
          </a:p>
          <a:p>
            <a:pPr marL="683895" lvl="1" indent="-341630">
              <a:buFont typeface="Courier New" panose="020B0604020202020204" pitchFamily="34" charset="0"/>
              <a:buChar char="o"/>
            </a:pPr>
            <a:r>
              <a:rPr lang="en-US" dirty="0" err="1">
                <a:ea typeface="+mn-lt"/>
                <a:cs typeface="+mn-lt"/>
              </a:rPr>
              <a:t>Resultatet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blev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ganske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godt</a:t>
            </a:r>
            <a:r>
              <a:rPr lang="en-US" dirty="0">
                <a:ea typeface="+mn-lt"/>
                <a:cs typeface="+mn-lt"/>
              </a:rPr>
              <a:t>, men AI "</a:t>
            </a:r>
            <a:r>
              <a:rPr lang="en-US" dirty="0" err="1">
                <a:ea typeface="+mn-lt"/>
                <a:cs typeface="+mn-lt"/>
              </a:rPr>
              <a:t>forstår</a:t>
            </a:r>
            <a:r>
              <a:rPr lang="en-US" dirty="0">
                <a:ea typeface="+mn-lt"/>
                <a:cs typeface="+mn-lt"/>
              </a:rPr>
              <a:t>" </a:t>
            </a:r>
            <a:r>
              <a:rPr lang="en-US" dirty="0" err="1">
                <a:ea typeface="+mn-lt"/>
                <a:cs typeface="+mn-lt"/>
              </a:rPr>
              <a:t>ikke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helt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hvad</a:t>
            </a:r>
            <a:r>
              <a:rPr lang="en-US" dirty="0">
                <a:ea typeface="+mn-lt"/>
                <a:cs typeface="+mn-lt"/>
              </a:rPr>
              <a:t> der </a:t>
            </a:r>
            <a:r>
              <a:rPr lang="en-US" dirty="0" err="1">
                <a:ea typeface="+mn-lt"/>
                <a:cs typeface="+mn-lt"/>
              </a:rPr>
              <a:t>skal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til</a:t>
            </a:r>
            <a:r>
              <a:rPr lang="en-US" dirty="0">
                <a:ea typeface="+mn-lt"/>
                <a:cs typeface="+mn-lt"/>
              </a:rPr>
              <a:t> for at </a:t>
            </a:r>
            <a:r>
              <a:rPr lang="en-US" dirty="0" err="1">
                <a:ea typeface="+mn-lt"/>
                <a:cs typeface="+mn-lt"/>
              </a:rPr>
              <a:t>få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tingene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til</a:t>
            </a:r>
            <a:r>
              <a:rPr lang="en-US" dirty="0">
                <a:ea typeface="+mn-lt"/>
                <a:cs typeface="+mn-lt"/>
              </a:rPr>
              <a:t> at </a:t>
            </a:r>
            <a:r>
              <a:rPr lang="en-US" dirty="0" err="1">
                <a:ea typeface="+mn-lt"/>
                <a:cs typeface="+mn-lt"/>
              </a:rPr>
              <a:t>fungere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ArcGIS online</a:t>
            </a:r>
            <a:endParaRPr lang="en-US" dirty="0">
              <a:ea typeface="Calibri"/>
              <a:cs typeface="Arial" panose="020B0604020202020204" pitchFamily="34" charset="0"/>
            </a:endParaRPr>
          </a:p>
          <a:p>
            <a:pPr marL="341630" indent="-341630"/>
            <a:endParaRPr lang="en-US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4606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665B3-CE2B-7F24-183B-76A9F71E2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ArcGIS - Screenshot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B729A4-B7BE-A48E-58A5-C4789A3788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2655" y="1442150"/>
            <a:ext cx="9801225" cy="520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62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BAEE5-8BAA-E470-6F9F-93F22CE20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Power BI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2E66D-4B6B-228D-D948-370EF8FDA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156447"/>
            <a:ext cx="11103711" cy="4754019"/>
          </a:xfrm>
        </p:spPr>
        <p:txBody>
          <a:bodyPr/>
          <a:lstStyle/>
          <a:p>
            <a:pPr marL="341630" indent="-341630"/>
            <a:r>
              <a:rPr lang="en-US" dirty="0" err="1">
                <a:ea typeface="+mn-lt"/>
                <a:cs typeface="+mn-lt"/>
              </a:rPr>
              <a:t>Meget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friktion</a:t>
            </a:r>
            <a:endParaRPr lang="en-US" dirty="0">
              <a:ea typeface="+mn-lt"/>
              <a:cs typeface="+mn-lt"/>
            </a:endParaRPr>
          </a:p>
          <a:p>
            <a:pPr marL="341630" indent="-341630"/>
            <a:endParaRPr lang="en-US" dirty="0">
              <a:ea typeface="Calibri"/>
            </a:endParaRPr>
          </a:p>
          <a:p>
            <a:pPr marL="341630" indent="-341630"/>
            <a:r>
              <a:rPr lang="en-US" dirty="0">
                <a:ea typeface="+mn-lt"/>
                <a:cs typeface="+mn-lt"/>
              </a:rPr>
              <a:t>AI har det </a:t>
            </a:r>
            <a:r>
              <a:rPr lang="en-US" dirty="0" err="1">
                <a:ea typeface="+mn-lt"/>
                <a:cs typeface="+mn-lt"/>
              </a:rPr>
              <a:t>svært</a:t>
            </a:r>
            <a:r>
              <a:rPr lang="en-US" dirty="0">
                <a:ea typeface="+mn-lt"/>
                <a:cs typeface="+mn-lt"/>
              </a:rPr>
              <a:t> med </a:t>
            </a:r>
            <a:r>
              <a:rPr lang="en-US" dirty="0" err="1">
                <a:ea typeface="+mn-lt"/>
                <a:cs typeface="+mn-lt"/>
              </a:rPr>
              <a:t>brugerflader</a:t>
            </a:r>
            <a:r>
              <a:rPr lang="en-US" dirty="0">
                <a:ea typeface="+mn-lt"/>
                <a:cs typeface="+mn-lt"/>
              </a:rPr>
              <a:t> - </a:t>
            </a:r>
            <a:r>
              <a:rPr lang="en-US" dirty="0" err="1">
                <a:ea typeface="+mn-lt"/>
                <a:cs typeface="+mn-lt"/>
              </a:rPr>
              <a:t>specielt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når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ændrer</a:t>
            </a:r>
            <a:r>
              <a:rPr lang="en-US" dirty="0">
                <a:ea typeface="+mn-lt"/>
                <a:cs typeface="+mn-lt"/>
              </a:rPr>
              <a:t> sig </a:t>
            </a:r>
            <a:r>
              <a:rPr lang="en-US" dirty="0" err="1">
                <a:ea typeface="+mn-lt"/>
                <a:cs typeface="+mn-lt"/>
              </a:rPr>
              <a:t>meget</a:t>
            </a:r>
            <a:r>
              <a:rPr lang="en-US" dirty="0">
                <a:ea typeface="+mn-lt"/>
                <a:cs typeface="+mn-lt"/>
              </a:rPr>
              <a:t> over </a:t>
            </a:r>
            <a:r>
              <a:rPr lang="en-US" dirty="0" err="1">
                <a:ea typeface="+mn-lt"/>
                <a:cs typeface="+mn-lt"/>
              </a:rPr>
              <a:t>tid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versioner</a:t>
            </a:r>
            <a:endParaRPr lang="en-US" dirty="0"/>
          </a:p>
          <a:p>
            <a:pPr marL="341630" indent="-341630"/>
            <a:endParaRPr lang="en-US" dirty="0">
              <a:ea typeface="+mn-lt"/>
              <a:cs typeface="+mn-lt"/>
            </a:endParaRPr>
          </a:p>
          <a:p>
            <a:pPr marL="341630" indent="-341630"/>
            <a:r>
              <a:rPr lang="en-US" dirty="0" err="1">
                <a:ea typeface="+mn-lt"/>
                <a:cs typeface="+mn-lt"/>
              </a:rPr>
              <a:t>Jeg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opgav</a:t>
            </a:r>
            <a:r>
              <a:rPr lang="en-US" dirty="0">
                <a:ea typeface="+mn-lt"/>
                <a:cs typeface="+mn-lt"/>
              </a:rPr>
              <a:t> at lave et </a:t>
            </a:r>
            <a:r>
              <a:rPr lang="en-US" dirty="0" err="1">
                <a:ea typeface="+mn-lt"/>
                <a:cs typeface="+mn-lt"/>
              </a:rPr>
              <a:t>funktionelt</a:t>
            </a:r>
            <a:r>
              <a:rPr lang="en-US" dirty="0">
                <a:ea typeface="+mn-lt"/>
                <a:cs typeface="+mn-lt"/>
              </a:rPr>
              <a:t> dashboard med AI. Vibe </a:t>
            </a:r>
            <a:r>
              <a:rPr lang="en-US" dirty="0" err="1">
                <a:ea typeface="+mn-lt"/>
                <a:cs typeface="+mn-lt"/>
              </a:rPr>
              <a:t>codning</a:t>
            </a:r>
            <a:r>
              <a:rPr lang="en-US" dirty="0">
                <a:ea typeface="+mn-lt"/>
                <a:cs typeface="+mn-lt"/>
              </a:rPr>
              <a:t> var </a:t>
            </a:r>
            <a:r>
              <a:rPr lang="en-US" dirty="0" err="1">
                <a:ea typeface="+mn-lt"/>
                <a:cs typeface="+mn-lt"/>
              </a:rPr>
              <a:t>ikke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mulig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prompt </a:t>
            </a:r>
            <a:r>
              <a:rPr lang="en-US" dirty="0" err="1">
                <a:ea typeface="+mn-lt"/>
                <a:cs typeface="+mn-lt"/>
              </a:rPr>
              <a:t>svar</a:t>
            </a:r>
            <a:r>
              <a:rPr lang="en-US" dirty="0">
                <a:ea typeface="+mn-lt"/>
                <a:cs typeface="+mn-lt"/>
              </a:rPr>
              <a:t> var </a:t>
            </a:r>
            <a:r>
              <a:rPr lang="en-US" dirty="0" err="1">
                <a:ea typeface="+mn-lt"/>
                <a:cs typeface="+mn-lt"/>
              </a:rPr>
              <a:t>upræcise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ikke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mulige</a:t>
            </a:r>
            <a:r>
              <a:rPr lang="en-US" dirty="0">
                <a:ea typeface="+mn-lt"/>
                <a:cs typeface="+mn-lt"/>
              </a:rPr>
              <a:t> at </a:t>
            </a:r>
            <a:r>
              <a:rPr lang="en-US" dirty="0" err="1">
                <a:ea typeface="+mn-lt"/>
                <a:cs typeface="+mn-lt"/>
              </a:rPr>
              <a:t>følge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PowerBI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brugerfladen</a:t>
            </a:r>
            <a:r>
              <a:rPr lang="en-US" dirty="0">
                <a:ea typeface="+mn-lt"/>
                <a:cs typeface="+mn-lt"/>
              </a:rPr>
              <a:t> </a:t>
            </a:r>
            <a:endParaRPr lang="en-US" dirty="0"/>
          </a:p>
          <a:p>
            <a:pPr marL="341630" indent="-341630"/>
            <a:endParaRPr lang="en-US" dirty="0">
              <a:ea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49EC83-291B-6137-8B3B-7A0B32C90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27" y="3852573"/>
            <a:ext cx="4944650" cy="268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883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66E62-10FD-1B2F-4BC2-DE7F1A0F4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dirty="0" err="1">
                <a:ea typeface="+mn-lt"/>
                <a:cs typeface="+mn-lt"/>
              </a:rPr>
              <a:t>Teknologierne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vurderet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forhold </a:t>
            </a:r>
            <a:r>
              <a:rPr lang="en-US" dirty="0" err="1">
                <a:ea typeface="+mn-lt"/>
                <a:cs typeface="+mn-lt"/>
              </a:rPr>
              <a:t>til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udvikling</a:t>
            </a:r>
            <a:r>
              <a:rPr lang="en-US" dirty="0">
                <a:ea typeface="+mn-lt"/>
                <a:cs typeface="+mn-lt"/>
              </a:rPr>
              <a:t> med AI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64FE203-022C-40C5-95BE-F9EF64F2C8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2168532"/>
              </p:ext>
            </p:extLst>
          </p:nvPr>
        </p:nvGraphicFramePr>
        <p:xfrm>
          <a:off x="385481" y="1289720"/>
          <a:ext cx="11438220" cy="4278560"/>
        </p:xfrm>
        <a:graphic>
          <a:graphicData uri="http://schemas.openxmlformats.org/drawingml/2006/table">
            <a:tbl>
              <a:tblPr/>
              <a:tblGrid>
                <a:gridCol w="1906370">
                  <a:extLst>
                    <a:ext uri="{9D8B030D-6E8A-4147-A177-3AD203B41FA5}">
                      <a16:colId xmlns:a16="http://schemas.microsoft.com/office/drawing/2014/main" val="1791050672"/>
                    </a:ext>
                  </a:extLst>
                </a:gridCol>
                <a:gridCol w="1906370">
                  <a:extLst>
                    <a:ext uri="{9D8B030D-6E8A-4147-A177-3AD203B41FA5}">
                      <a16:colId xmlns:a16="http://schemas.microsoft.com/office/drawing/2014/main" val="2777721888"/>
                    </a:ext>
                  </a:extLst>
                </a:gridCol>
                <a:gridCol w="1906370">
                  <a:extLst>
                    <a:ext uri="{9D8B030D-6E8A-4147-A177-3AD203B41FA5}">
                      <a16:colId xmlns:a16="http://schemas.microsoft.com/office/drawing/2014/main" val="3011163199"/>
                    </a:ext>
                  </a:extLst>
                </a:gridCol>
                <a:gridCol w="1906370">
                  <a:extLst>
                    <a:ext uri="{9D8B030D-6E8A-4147-A177-3AD203B41FA5}">
                      <a16:colId xmlns:a16="http://schemas.microsoft.com/office/drawing/2014/main" val="3428251616"/>
                    </a:ext>
                  </a:extLst>
                </a:gridCol>
                <a:gridCol w="1906370">
                  <a:extLst>
                    <a:ext uri="{9D8B030D-6E8A-4147-A177-3AD203B41FA5}">
                      <a16:colId xmlns:a16="http://schemas.microsoft.com/office/drawing/2014/main" val="3509201111"/>
                    </a:ext>
                  </a:extLst>
                </a:gridCol>
                <a:gridCol w="1906370">
                  <a:extLst>
                    <a:ext uri="{9D8B030D-6E8A-4147-A177-3AD203B41FA5}">
                      <a16:colId xmlns:a16="http://schemas.microsoft.com/office/drawing/2014/main" val="4289391201"/>
                    </a:ext>
                  </a:extLst>
                </a:gridCol>
              </a:tblGrid>
              <a:tr h="368700"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1" i="0" u="none" strike="noStrike" dirty="0">
                          <a:solidFill>
                            <a:srgbClr val="CCCCCC"/>
                          </a:solidFill>
                          <a:effectLst/>
                          <a:latin typeface="Segoe UI" panose="020B0502040204020203" pitchFamily="34" charset="0"/>
                        </a:rPr>
                        <a:t>Parameter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1" i="0" u="none" strike="noStrike" dirty="0" err="1">
                          <a:solidFill>
                            <a:srgbClr val="CCCCCC"/>
                          </a:solidFill>
                          <a:effectLst/>
                          <a:latin typeface="Segoe UI" panose="020B0502040204020203" pitchFamily="34" charset="0"/>
                        </a:rPr>
                        <a:t>Shiny</a:t>
                      </a:r>
                      <a:r>
                        <a:rPr lang="da-DK" sz="1100" b="1" i="0" u="none" strike="noStrike" dirty="0">
                          <a:solidFill>
                            <a:srgbClr val="CCCCCC"/>
                          </a:solidFill>
                          <a:effectLst/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da-DK" sz="1100" b="1" i="0" u="none" strike="noStrike" dirty="0" err="1">
                          <a:solidFill>
                            <a:srgbClr val="CCCCCC"/>
                          </a:solidFill>
                          <a:effectLst/>
                          <a:latin typeface="Segoe UI" panose="020B0502040204020203" pitchFamily="34" charset="0"/>
                        </a:rPr>
                        <a:t>Shinylive</a:t>
                      </a:r>
                      <a:r>
                        <a:rPr lang="da-DK" sz="1100" b="1" i="0" u="none" strike="noStrike" dirty="0">
                          <a:solidFill>
                            <a:srgbClr val="CCCCCC"/>
                          </a:solidFill>
                          <a:effectLst/>
                          <a:latin typeface="Segoe UI" panose="020B0502040204020203" pitchFamily="34" charset="0"/>
                        </a:rPr>
                        <a:t>/</a:t>
                      </a:r>
                      <a:r>
                        <a:rPr lang="da-DK" sz="1100" b="1" i="0" u="none" strike="noStrike" dirty="0" err="1">
                          <a:solidFill>
                            <a:srgbClr val="CCCCCC"/>
                          </a:solidFill>
                          <a:effectLst/>
                          <a:latin typeface="Segoe UI" panose="020B0502040204020203" pitchFamily="34" charset="0"/>
                        </a:rPr>
                        <a:t>ShinyApps</a:t>
                      </a:r>
                      <a:r>
                        <a:rPr lang="da-DK" sz="1100" b="1" i="0" u="none" strike="noStrike" dirty="0">
                          <a:solidFill>
                            <a:srgbClr val="CCCCCC"/>
                          </a:solidFill>
                          <a:effectLst/>
                          <a:latin typeface="Segoe UI" panose="020B0502040204020203" pitchFamily="34" charset="0"/>
                        </a:rPr>
                        <a:t>)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1" i="0" u="none" strike="noStrike">
                          <a:solidFill>
                            <a:srgbClr val="CCCCCC"/>
                          </a:solidFill>
                          <a:effectLst/>
                          <a:latin typeface="Segoe UI" panose="020B0502040204020203" pitchFamily="34" charset="0"/>
                        </a:rPr>
                        <a:t>Dash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1" i="0" u="none" strike="noStrike">
                          <a:solidFill>
                            <a:srgbClr val="CCCCCC"/>
                          </a:solidFill>
                          <a:effectLst/>
                          <a:latin typeface="Segoe UI" panose="020B0502040204020203" pitchFamily="34" charset="0"/>
                        </a:rPr>
                        <a:t>Streamlit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1" i="0" u="none" strike="noStrike">
                          <a:solidFill>
                            <a:srgbClr val="CCCCCC"/>
                          </a:solidFill>
                          <a:effectLst/>
                          <a:latin typeface="Segoe UI" panose="020B0502040204020203" pitchFamily="34" charset="0"/>
                        </a:rPr>
                        <a:t>ArcGIS Scene / 3D Viewer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1" i="0" u="none" strike="noStrike">
                          <a:solidFill>
                            <a:srgbClr val="CCCCCC"/>
                          </a:solidFill>
                          <a:effectLst/>
                          <a:latin typeface="Segoe UI" panose="020B0502040204020203" pitchFamily="34" charset="0"/>
                        </a:rPr>
                        <a:t>Power BI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403612"/>
                  </a:ext>
                </a:extLst>
              </a:tr>
              <a:tr h="781972"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Opsætning af udviklingsmiljø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Hurtig at komme igang, fx med VSCode med shiny extension</a:t>
                      </a:r>
                    </a:p>
                  </a:txBody>
                  <a:tcPr marL="9131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Hurtig at komme igang med fx VSCode med shiny extension</a:t>
                      </a:r>
                    </a:p>
                  </a:txBody>
                  <a:tcPr marL="9131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Meget nemt at starte, fx med GitHub Codespaces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Nemt at sætte ArcGIS API for op, men ArcGIS online eller lignende kræves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Fungere bedst/kun i Power BI desktop eller web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670673"/>
                  </a:ext>
                </a:extLst>
              </a:tr>
              <a:tr h="781972"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AI-assistance af datapipeline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Generelt god hjælp, men udfordret med geodata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Generelt god hjælp, men udfordret med geodata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Generelt god hjælp - også et landegeokodning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Generelt rimelig hjælp - kan godt ArcGIS geodata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Klargøring af data 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239789"/>
                  </a:ext>
                </a:extLst>
              </a:tr>
              <a:tr h="781972"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AI-assistance af app-udvikling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 implementering, men med nogen fejlrettelser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 implementering, men med nogen fejlrettelser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Implementerede fuldt funktionelt dashboard hurtig med få fejlrettelser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Nemt at sætte ArcGIS API for op, men ArcGIS online eller lignende kræves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Fungerede ikke godt, AI bliver "forvirret" over forskellige version med ny brugerflade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427720"/>
                  </a:ext>
                </a:extLst>
              </a:tr>
              <a:tr h="781972"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Hosting - deployment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ShinyApps er nem at sætte op.</a:t>
                      </a:r>
                      <a:b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Shinylive (statisk site) er rigtig god til datamængder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Hosting er lidt mere krævende end med Shiny, men dog rimelig nemt med fx Render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Streamlit.app er meget simpel. </a:t>
                      </a:r>
                      <a:b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Stlite (statisk site) virker godt til mindre datamængder.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Nem hosting, men kræver licens (fx ArcGIS online)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Kræver Power BI Service/Premium og licenser og opsætning, der tillader hosting til externe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055496"/>
                  </a:ext>
                </a:extLst>
              </a:tr>
              <a:tr h="781972"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Slutbruger-oplevelsen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simpelt, men ganske flot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simpelt, men ganske flot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simpelt, men ganske flot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Jeg elsker 3D! &lt;3 </a:t>
                      </a: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 lykkedes ikke at lave et færdigt </a:t>
                      </a:r>
                      <a:r>
                        <a:rPr lang="da-DK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dashboard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77" marR="9131" marT="91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12597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89A53AF-9AD5-4B84-B2E8-A660E90053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233202"/>
              </p:ext>
            </p:extLst>
          </p:nvPr>
        </p:nvGraphicFramePr>
        <p:xfrm>
          <a:off x="385481" y="5642643"/>
          <a:ext cx="1891554" cy="762000"/>
        </p:xfrm>
        <a:graphic>
          <a:graphicData uri="http://schemas.openxmlformats.org/drawingml/2006/table">
            <a:tbl>
              <a:tblPr/>
              <a:tblGrid>
                <a:gridCol w="1891554">
                  <a:extLst>
                    <a:ext uri="{9D8B030D-6E8A-4147-A177-3AD203B41FA5}">
                      <a16:colId xmlns:a16="http://schemas.microsoft.com/office/drawing/2014/main" val="303293173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fremragende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682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god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349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middel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3062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beskeden/mangelfuld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751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5811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1A6AD-A9BC-0936-D45C-7D48B9E5F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dirty="0" err="1">
                <a:ea typeface="+mn-lt"/>
                <a:cs typeface="+mn-lt"/>
              </a:rPr>
              <a:t>Hvad</a:t>
            </a:r>
            <a:r>
              <a:rPr lang="en-US" dirty="0">
                <a:ea typeface="+mn-lt"/>
                <a:cs typeface="+mn-lt"/>
              </a:rPr>
              <a:t> er AI </a:t>
            </a:r>
            <a:r>
              <a:rPr lang="en-US" dirty="0" err="1">
                <a:ea typeface="+mn-lt"/>
                <a:cs typeface="+mn-lt"/>
              </a:rPr>
              <a:t>særligt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velegnet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til</a:t>
            </a:r>
            <a:r>
              <a:rPr lang="en-US" dirty="0">
                <a:ea typeface="+mn-lt"/>
                <a:cs typeface="+mn-lt"/>
              </a:rPr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FCA0F-72D9-4DD4-BE8F-C167B2C45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630" indent="-341630">
              <a:lnSpc>
                <a:spcPct val="150000"/>
              </a:lnSpc>
            </a:pPr>
            <a:r>
              <a:rPr lang="en-US" dirty="0">
                <a:ea typeface="+mn-lt"/>
                <a:cs typeface="+mn-lt"/>
              </a:rPr>
              <a:t>Lyn-</a:t>
            </a:r>
            <a:r>
              <a:rPr lang="en-US" dirty="0" err="1">
                <a:ea typeface="+mn-lt"/>
                <a:cs typeface="+mn-lt"/>
              </a:rPr>
              <a:t>prototyper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idé-afprøvning</a:t>
            </a:r>
            <a:endParaRPr lang="en-US" dirty="0" err="1">
              <a:ea typeface="Calibri"/>
            </a:endParaRPr>
          </a:p>
          <a:p>
            <a:pPr marL="341630" indent="-341630">
              <a:lnSpc>
                <a:spcPct val="150000"/>
              </a:lnSpc>
            </a:pPr>
            <a:r>
              <a:rPr lang="en-US">
                <a:ea typeface="+mn-lt"/>
                <a:cs typeface="+mn-lt"/>
              </a:rPr>
              <a:t>Review/</a:t>
            </a:r>
            <a:r>
              <a:rPr lang="en-US" err="1">
                <a:ea typeface="+mn-lt"/>
                <a:cs typeface="+mn-lt"/>
              </a:rPr>
              <a:t>korrektur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dokumentation</a:t>
            </a:r>
            <a:endParaRPr lang="en-US" err="1">
              <a:ea typeface="Calibri"/>
            </a:endParaRPr>
          </a:p>
          <a:p>
            <a:pPr marL="341630" indent="-341630">
              <a:lnSpc>
                <a:spcPct val="150000"/>
              </a:lnSpc>
            </a:pPr>
            <a:r>
              <a:rPr lang="en-US" err="1">
                <a:ea typeface="+mn-lt"/>
                <a:cs typeface="+mn-lt"/>
              </a:rPr>
              <a:t>Teknologier</a:t>
            </a:r>
            <a:r>
              <a:rPr lang="en-US">
                <a:ea typeface="+mn-lt"/>
                <a:cs typeface="+mn-lt"/>
              </a:rPr>
              <a:t> med </a:t>
            </a:r>
            <a:r>
              <a:rPr lang="en-US" err="1">
                <a:ea typeface="+mn-lt"/>
                <a:cs typeface="+mn-lt"/>
              </a:rPr>
              <a:t>stor</a:t>
            </a:r>
            <a:r>
              <a:rPr lang="en-US">
                <a:ea typeface="+mn-lt"/>
                <a:cs typeface="+mn-lt"/>
              </a:rPr>
              <a:t> community-</a:t>
            </a:r>
            <a:r>
              <a:rPr lang="en-US" err="1">
                <a:ea typeface="+mn-lt"/>
                <a:cs typeface="+mn-lt"/>
              </a:rPr>
              <a:t>hjælp</a:t>
            </a:r>
            <a:endParaRPr lang="en-US" err="1">
              <a:ea typeface="Calibri"/>
            </a:endParaRPr>
          </a:p>
          <a:p>
            <a:pPr marL="341630" indent="-341630">
              <a:lnSpc>
                <a:spcPct val="150000"/>
              </a:lnSpc>
            </a:pPr>
            <a:r>
              <a:rPr lang="en-US" dirty="0">
                <a:ea typeface="+mn-lt"/>
                <a:cs typeface="+mn-lt"/>
              </a:rPr>
              <a:t>Workflows, der </a:t>
            </a:r>
            <a:r>
              <a:rPr lang="en-US" dirty="0" err="1">
                <a:ea typeface="+mn-lt"/>
                <a:cs typeface="+mn-lt"/>
              </a:rPr>
              <a:t>kan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scriptes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eller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automatiseres</a:t>
            </a:r>
            <a:endParaRPr lang="en-US" dirty="0" err="1">
              <a:ea typeface="Calibri"/>
            </a:endParaRPr>
          </a:p>
          <a:p>
            <a:pPr marL="341630" indent="-341630"/>
            <a:endParaRPr lang="en-US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4482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A59E6-2A80-C173-A702-A735B5F28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err="1">
                <a:latin typeface="Calibri"/>
                <a:ea typeface="Calibri"/>
                <a:cs typeface="Calibri"/>
              </a:rPr>
              <a:t>Overvejelser</a:t>
            </a:r>
            <a:r>
              <a:rPr lang="en-US">
                <a:latin typeface="Calibri"/>
                <a:ea typeface="Calibri"/>
                <a:cs typeface="Calibri"/>
              </a:rPr>
              <a:t> om </a:t>
            </a:r>
            <a:r>
              <a:rPr lang="en-US" err="1">
                <a:latin typeface="Calibri"/>
                <a:ea typeface="Calibri"/>
                <a:cs typeface="Calibri"/>
              </a:rPr>
              <a:t>sikkerhed</a:t>
            </a:r>
            <a:endParaRPr lang="en-US" err="1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7CE40-B231-3BF6-7999-543EEEA5C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630" indent="-341630">
              <a:lnSpc>
                <a:spcPct val="150000"/>
              </a:lnSpc>
            </a:pPr>
            <a:r>
              <a:rPr lang="en-US" dirty="0" err="1">
                <a:ea typeface="+mn-lt"/>
                <a:cs typeface="+mn-lt"/>
              </a:rPr>
              <a:t>Må</a:t>
            </a:r>
            <a:r>
              <a:rPr lang="en-US" dirty="0">
                <a:ea typeface="+mn-lt"/>
                <a:cs typeface="+mn-lt"/>
              </a:rPr>
              <a:t> du </a:t>
            </a:r>
            <a:r>
              <a:rPr lang="en-US" dirty="0" err="1">
                <a:ea typeface="+mn-lt"/>
                <a:cs typeface="+mn-lt"/>
              </a:rPr>
              <a:t>bruge</a:t>
            </a:r>
            <a:r>
              <a:rPr lang="en-US" dirty="0">
                <a:ea typeface="+mn-lt"/>
                <a:cs typeface="+mn-lt"/>
              </a:rPr>
              <a:t> AI </a:t>
            </a:r>
            <a:r>
              <a:rPr lang="en-US" dirty="0" err="1">
                <a:ea typeface="+mn-lt"/>
                <a:cs typeface="+mn-lt"/>
              </a:rPr>
              <a:t>på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arbejdet</a:t>
            </a:r>
            <a:r>
              <a:rPr lang="en-US" dirty="0">
                <a:ea typeface="+mn-lt"/>
                <a:cs typeface="+mn-lt"/>
              </a:rPr>
              <a:t>? </a:t>
            </a:r>
            <a:r>
              <a:rPr lang="en-US" dirty="0" err="1">
                <a:ea typeface="+mn-lt"/>
                <a:cs typeface="+mn-lt"/>
              </a:rPr>
              <a:t>Hvad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siger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politikkerne</a:t>
            </a:r>
            <a:r>
              <a:rPr lang="en-US" dirty="0">
                <a:ea typeface="+mn-lt"/>
                <a:cs typeface="+mn-lt"/>
              </a:rPr>
              <a:t>?</a:t>
            </a:r>
            <a:endParaRPr lang="en-US" dirty="0">
              <a:ea typeface="Calibri"/>
            </a:endParaRPr>
          </a:p>
          <a:p>
            <a:pPr marL="341630" indent="-341630">
              <a:lnSpc>
                <a:spcPct val="150000"/>
              </a:lnSpc>
            </a:pPr>
            <a:r>
              <a:rPr lang="en-US" dirty="0">
                <a:ea typeface="+mn-lt"/>
                <a:cs typeface="+mn-lt"/>
              </a:rPr>
              <a:t>Vibe coding vs. AI-</a:t>
            </a:r>
            <a:r>
              <a:rPr lang="en-US" dirty="0" err="1">
                <a:ea typeface="+mn-lt"/>
                <a:cs typeface="+mn-lt"/>
              </a:rPr>
              <a:t>assisteret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udvikling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ift</a:t>
            </a:r>
            <a:r>
              <a:rPr lang="en-US" dirty="0">
                <a:ea typeface="+mn-lt"/>
                <a:cs typeface="+mn-lt"/>
              </a:rPr>
              <a:t>. compliance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logging</a:t>
            </a:r>
            <a:endParaRPr lang="en-US" dirty="0">
              <a:ea typeface="Calibri"/>
            </a:endParaRPr>
          </a:p>
          <a:p>
            <a:pPr marL="341630" indent="-341630">
              <a:lnSpc>
                <a:spcPct val="150000"/>
              </a:lnSpc>
            </a:pPr>
            <a:r>
              <a:rPr lang="en-US" dirty="0" err="1">
                <a:ea typeface="+mn-lt"/>
                <a:cs typeface="+mn-lt"/>
              </a:rPr>
              <a:t>Datafølsomhed</a:t>
            </a:r>
            <a:r>
              <a:rPr lang="en-US" dirty="0">
                <a:ea typeface="+mn-lt"/>
                <a:cs typeface="+mn-lt"/>
              </a:rPr>
              <a:t> </a:t>
            </a:r>
            <a:endParaRPr lang="en-US" dirty="0">
              <a:ea typeface="Calibri"/>
            </a:endParaRPr>
          </a:p>
          <a:p>
            <a:pPr marL="683895" lvl="1" indent="-34163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Mit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råd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: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brug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aldrig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persondata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-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brug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kunstig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eller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offentlig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tilgængeligt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data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Arial" panose="020B0604020202020204" pitchFamily="34" charset="0"/>
            </a:endParaRPr>
          </a:p>
          <a:p>
            <a:pPr marL="683895" lvl="1" indent="-34163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Hvis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der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brug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for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rigtig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data,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så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tilføj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data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manuelt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når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løsningen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skal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i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drift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Arial" panose="020B0604020202020204" pitchFamily="34" charset="0"/>
            </a:endParaRPr>
          </a:p>
          <a:p>
            <a:pPr marL="683895" lvl="1" indent="-341630">
              <a:buFont typeface="Courier New" panose="020B0604020202020204" pitchFamily="34" charset="0"/>
              <a:buChar char="o"/>
            </a:pPr>
            <a:endParaRPr lang="en-US" dirty="0"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431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CEFFC-ABD3-65DF-F3EA-D9B74FF7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Tips </a:t>
            </a:r>
            <a:r>
              <a:rPr lang="en-US" dirty="0" err="1">
                <a:latin typeface="Calibri"/>
                <a:ea typeface="Calibri"/>
                <a:cs typeface="Calibri"/>
              </a:rPr>
              <a:t>til</a:t>
            </a:r>
            <a:r>
              <a:rPr lang="en-US" dirty="0">
                <a:latin typeface="Calibri"/>
                <a:ea typeface="Calibri"/>
                <a:cs typeface="Calibri"/>
              </a:rPr>
              <a:t> at </a:t>
            </a:r>
            <a:r>
              <a:rPr lang="en-US" dirty="0" err="1">
                <a:latin typeface="Calibri"/>
                <a:ea typeface="Calibri"/>
                <a:cs typeface="Calibri"/>
              </a:rPr>
              <a:t>bruge</a:t>
            </a:r>
            <a:r>
              <a:rPr lang="en-US" dirty="0">
                <a:latin typeface="Calibri"/>
                <a:ea typeface="Calibri"/>
                <a:cs typeface="Calibri"/>
              </a:rPr>
              <a:t> AI </a:t>
            </a:r>
            <a:r>
              <a:rPr lang="en-US" dirty="0" err="1">
                <a:latin typeface="Calibri"/>
                <a:ea typeface="Calibri"/>
                <a:cs typeface="Calibri"/>
              </a:rPr>
              <a:t>effektivt</a:t>
            </a:r>
            <a:endParaRPr lang="en-US" dirty="0" err="1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6E8C7-9A5A-94D4-C2A9-2F287A85C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9" y="1255127"/>
            <a:ext cx="11103711" cy="5058750"/>
          </a:xfrm>
        </p:spPr>
        <p:txBody>
          <a:bodyPr>
            <a:normAutofit/>
          </a:bodyPr>
          <a:lstStyle/>
          <a:p>
            <a:pPr marL="341630" indent="-341630"/>
            <a:r>
              <a:rPr lang="en-US" dirty="0">
                <a:ea typeface="+mn-lt"/>
                <a:cs typeface="+mn-lt"/>
              </a:rPr>
              <a:t>Prompting</a:t>
            </a:r>
          </a:p>
          <a:p>
            <a:pPr marL="799200" lvl="1" indent="-457200">
              <a:buFont typeface="+mj-lt"/>
              <a:buAutoNum type="arabicPeriod"/>
            </a:pPr>
            <a:r>
              <a:rPr lang="en-US" dirty="0">
                <a:ea typeface="+mn-lt"/>
                <a:cs typeface="+mn-lt"/>
              </a:rPr>
              <a:t>Bed </a:t>
            </a:r>
            <a:r>
              <a:rPr lang="en-US" dirty="0" err="1">
                <a:ea typeface="+mn-lt"/>
                <a:cs typeface="+mn-lt"/>
              </a:rPr>
              <a:t>AI’en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stille</a:t>
            </a:r>
            <a:r>
              <a:rPr lang="en-US" dirty="0">
                <a:ea typeface="+mn-lt"/>
                <a:cs typeface="+mn-lt"/>
              </a:rPr>
              <a:t> dig </a:t>
            </a:r>
            <a:r>
              <a:rPr lang="en-US" dirty="0" err="1">
                <a:ea typeface="+mn-lt"/>
                <a:cs typeface="+mn-lt"/>
              </a:rPr>
              <a:t>spørgsmål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før</a:t>
            </a:r>
            <a:r>
              <a:rPr lang="en-US" dirty="0">
                <a:ea typeface="+mn-lt"/>
                <a:cs typeface="+mn-lt"/>
              </a:rPr>
              <a:t> den </a:t>
            </a:r>
            <a:r>
              <a:rPr lang="en-US" dirty="0" err="1">
                <a:ea typeface="+mn-lt"/>
                <a:cs typeface="+mn-lt"/>
              </a:rPr>
              <a:t>forelår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løsningen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799200" lvl="1" indent="-457200">
              <a:buFont typeface="+mj-lt"/>
              <a:buAutoNum type="arabicPeriod"/>
            </a:pPr>
            <a:r>
              <a:rPr lang="en-US" dirty="0">
                <a:ea typeface="+mn-lt"/>
                <a:cs typeface="+mn-lt"/>
              </a:rPr>
              <a:t>Bed om </a:t>
            </a:r>
            <a:r>
              <a:rPr lang="en-US" dirty="0" err="1">
                <a:ea typeface="+mn-lt"/>
                <a:cs typeface="+mn-lt"/>
              </a:rPr>
              <a:t>flere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mulige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løsninger</a:t>
            </a:r>
            <a:r>
              <a:rPr lang="en-US" dirty="0">
                <a:ea typeface="+mn-lt"/>
                <a:cs typeface="+mn-lt"/>
              </a:rPr>
              <a:t> med for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imod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799200" lvl="1" indent="-457200">
              <a:buFont typeface="+mj-lt"/>
              <a:buAutoNum type="arabicPeriod"/>
            </a:pPr>
            <a:r>
              <a:rPr lang="en-US" dirty="0"/>
              <a:t>Bed </a:t>
            </a:r>
            <a:r>
              <a:rPr lang="en-US" dirty="0" err="1"/>
              <a:t>AI’en</a:t>
            </a:r>
            <a:r>
              <a:rPr lang="en-US" dirty="0"/>
              <a:t> </a:t>
            </a:r>
            <a:r>
              <a:rPr lang="en-US" dirty="0" err="1"/>
              <a:t>fortælle</a:t>
            </a:r>
            <a:r>
              <a:rPr lang="en-US" dirty="0"/>
              <a:t>, </a:t>
            </a:r>
            <a:r>
              <a:rPr lang="en-US" dirty="0" err="1"/>
              <a:t>hvad</a:t>
            </a:r>
            <a:r>
              <a:rPr lang="en-US" dirty="0"/>
              <a:t> den finder </a:t>
            </a:r>
            <a:r>
              <a:rPr lang="en-US" dirty="0" err="1"/>
              <a:t>ud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med </a:t>
            </a:r>
            <a:r>
              <a:rPr lang="en-US" dirty="0" err="1"/>
              <a:t>søgning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nettet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hvad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hvorfor</a:t>
            </a:r>
            <a:r>
              <a:rPr lang="en-US" dirty="0"/>
              <a:t> den </a:t>
            </a:r>
            <a:r>
              <a:rPr lang="en-US" dirty="0" err="1"/>
              <a:t>ræsonnerer</a:t>
            </a:r>
            <a:r>
              <a:rPr lang="en-US" dirty="0"/>
              <a:t> sig </a:t>
            </a:r>
            <a:r>
              <a:rPr lang="en-US" dirty="0" err="1"/>
              <a:t>frem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.</a:t>
            </a:r>
            <a:endParaRPr lang="en-US" dirty="0">
              <a:ea typeface="+mn-lt"/>
              <a:cs typeface="+mn-lt"/>
            </a:endParaRPr>
          </a:p>
          <a:p>
            <a:pPr marL="683630" lvl="1" indent="-341630"/>
            <a:endParaRPr lang="en-US" dirty="0">
              <a:ea typeface="+mn-lt"/>
              <a:cs typeface="+mn-lt"/>
            </a:endParaRPr>
          </a:p>
          <a:p>
            <a:pPr marL="341630" indent="-341630"/>
            <a:r>
              <a:rPr lang="en-US" dirty="0">
                <a:ea typeface="+mn-lt"/>
                <a:cs typeface="+mn-lt"/>
              </a:rPr>
              <a:t>Vibe Coding</a:t>
            </a:r>
          </a:p>
          <a:p>
            <a:pPr marL="799200" lvl="1" indent="-457200">
              <a:buFont typeface="+mj-lt"/>
              <a:buAutoNum type="arabicPeriod"/>
            </a:pPr>
            <a:r>
              <a:rPr lang="en-US" dirty="0" err="1">
                <a:ea typeface="+mn-lt"/>
                <a:cs typeface="+mn-lt"/>
              </a:rPr>
              <a:t>Når</a:t>
            </a:r>
            <a:r>
              <a:rPr lang="en-US" dirty="0">
                <a:ea typeface="+mn-lt"/>
                <a:cs typeface="+mn-lt"/>
              </a:rPr>
              <a:t> du vibe coder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får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fejl</a:t>
            </a:r>
            <a:r>
              <a:rPr lang="en-US" dirty="0">
                <a:ea typeface="+mn-lt"/>
                <a:cs typeface="+mn-lt"/>
              </a:rPr>
              <a:t>: prompt AI med </a:t>
            </a:r>
            <a:r>
              <a:rPr lang="en-US" dirty="0" err="1">
                <a:ea typeface="+mn-lt"/>
                <a:cs typeface="+mn-lt"/>
              </a:rPr>
              <a:t>fejlen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kontekst</a:t>
            </a:r>
            <a:r>
              <a:rPr lang="en-US" dirty="0">
                <a:ea typeface="+mn-lt"/>
                <a:cs typeface="+mn-lt"/>
              </a:rPr>
              <a:t> (log, </a:t>
            </a:r>
            <a:r>
              <a:rPr lang="en-US" dirty="0" err="1">
                <a:ea typeface="+mn-lt"/>
                <a:cs typeface="+mn-lt"/>
              </a:rPr>
              <a:t>hvad</a:t>
            </a:r>
            <a:r>
              <a:rPr lang="en-US" dirty="0">
                <a:ea typeface="+mn-lt"/>
                <a:cs typeface="+mn-lt"/>
              </a:rPr>
              <a:t> du </a:t>
            </a:r>
            <a:r>
              <a:rPr lang="en-US" dirty="0" err="1">
                <a:ea typeface="+mn-lt"/>
                <a:cs typeface="+mn-lt"/>
              </a:rPr>
              <a:t>forventer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hvad</a:t>
            </a:r>
            <a:r>
              <a:rPr lang="en-US" dirty="0">
                <a:ea typeface="+mn-lt"/>
                <a:cs typeface="+mn-lt"/>
              </a:rPr>
              <a:t> du rent </a:t>
            </a:r>
            <a:r>
              <a:rPr lang="en-US" dirty="0" err="1">
                <a:ea typeface="+mn-lt"/>
                <a:cs typeface="+mn-lt"/>
              </a:rPr>
              <a:t>faktisk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fik</a:t>
            </a:r>
            <a:r>
              <a:rPr lang="en-US" dirty="0">
                <a:ea typeface="+mn-lt"/>
                <a:cs typeface="+mn-lt"/>
              </a:rPr>
              <a:t>)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bed den </a:t>
            </a:r>
            <a:r>
              <a:rPr lang="en-US" dirty="0" err="1">
                <a:ea typeface="+mn-lt"/>
                <a:cs typeface="+mn-lt"/>
              </a:rPr>
              <a:t>rette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fejlen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799200" lvl="1" indent="-457200">
              <a:buFont typeface="+mj-lt"/>
              <a:buAutoNum type="arabicPeriod"/>
            </a:pPr>
            <a:r>
              <a:rPr lang="en-US" dirty="0" err="1">
                <a:ea typeface="+mn-lt"/>
                <a:cs typeface="+mn-lt"/>
              </a:rPr>
              <a:t>Hvis</a:t>
            </a:r>
            <a:r>
              <a:rPr lang="en-US" dirty="0">
                <a:ea typeface="+mn-lt"/>
                <a:cs typeface="+mn-lt"/>
              </a:rPr>
              <a:t> du </a:t>
            </a:r>
            <a:r>
              <a:rPr lang="en-US" dirty="0" err="1">
                <a:ea typeface="+mn-lt"/>
                <a:cs typeface="+mn-lt"/>
              </a:rPr>
              <a:t>ved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hvad</a:t>
            </a:r>
            <a:r>
              <a:rPr lang="en-US" dirty="0">
                <a:ea typeface="+mn-lt"/>
                <a:cs typeface="+mn-lt"/>
              </a:rPr>
              <a:t> du </a:t>
            </a:r>
            <a:r>
              <a:rPr lang="en-US" dirty="0" err="1">
                <a:ea typeface="+mn-lt"/>
                <a:cs typeface="+mn-lt"/>
              </a:rPr>
              <a:t>skal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gøre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det </a:t>
            </a:r>
            <a:r>
              <a:rPr lang="en-US" dirty="0" err="1">
                <a:ea typeface="+mn-lt"/>
                <a:cs typeface="+mn-lt"/>
              </a:rPr>
              <a:t>ikke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tager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lang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tid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så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gør</a:t>
            </a:r>
            <a:r>
              <a:rPr lang="en-US" dirty="0">
                <a:ea typeface="+mn-lt"/>
                <a:cs typeface="+mn-lt"/>
              </a:rPr>
              <a:t> det </a:t>
            </a:r>
            <a:r>
              <a:rPr lang="en-US" dirty="0" err="1">
                <a:ea typeface="+mn-lt"/>
                <a:cs typeface="+mn-lt"/>
              </a:rPr>
              <a:t>selv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799200" lvl="1" indent="-457200">
              <a:buFont typeface="+mj-lt"/>
              <a:buAutoNum type="arabicPeriod"/>
            </a:pPr>
            <a:r>
              <a:rPr lang="en-US" dirty="0" err="1">
                <a:ea typeface="+mn-lt"/>
                <a:cs typeface="+mn-lt"/>
              </a:rPr>
              <a:t>Hav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noget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arbejde</a:t>
            </a:r>
            <a:r>
              <a:rPr lang="en-US" dirty="0">
                <a:ea typeface="+mn-lt"/>
                <a:cs typeface="+mn-lt"/>
              </a:rPr>
              <a:t> du </a:t>
            </a:r>
            <a:r>
              <a:rPr lang="en-US" dirty="0" err="1">
                <a:ea typeface="+mn-lt"/>
                <a:cs typeface="+mn-lt"/>
              </a:rPr>
              <a:t>kan</a:t>
            </a:r>
            <a:r>
              <a:rPr lang="en-US" dirty="0">
                <a:ea typeface="+mn-lt"/>
                <a:cs typeface="+mn-lt"/>
              </a:rPr>
              <a:t> lave, </a:t>
            </a:r>
            <a:r>
              <a:rPr lang="en-US" dirty="0" err="1">
                <a:ea typeface="+mn-lt"/>
                <a:cs typeface="+mn-lt"/>
              </a:rPr>
              <a:t>mens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AI'en</a:t>
            </a:r>
            <a:r>
              <a:rPr lang="en-US" dirty="0">
                <a:ea typeface="+mn-lt"/>
                <a:cs typeface="+mn-lt"/>
              </a:rPr>
              <a:t> "</a:t>
            </a:r>
            <a:r>
              <a:rPr lang="en-US" dirty="0" err="1">
                <a:ea typeface="+mn-lt"/>
                <a:cs typeface="+mn-lt"/>
              </a:rPr>
              <a:t>tænker</a:t>
            </a:r>
            <a:r>
              <a:rPr lang="en-US" dirty="0">
                <a:ea typeface="+mn-lt"/>
                <a:cs typeface="+mn-lt"/>
              </a:rPr>
              <a:t>". </a:t>
            </a:r>
            <a:r>
              <a:rPr lang="en-US" dirty="0" err="1">
                <a:ea typeface="+mn-lt"/>
                <a:cs typeface="+mn-lt"/>
              </a:rPr>
              <a:t>Nogle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opgaver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tager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lang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tid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799200" lvl="1" indent="-457200">
              <a:buFont typeface="+mj-lt"/>
              <a:buAutoNum type="arabicPeriod"/>
            </a:pPr>
            <a:r>
              <a:rPr lang="en-US" dirty="0">
                <a:ea typeface="+mn-lt"/>
                <a:cs typeface="+mn-lt"/>
              </a:rPr>
              <a:t>Log dine prompts </a:t>
            </a:r>
            <a:r>
              <a:rPr lang="en-US" dirty="0" err="1">
                <a:ea typeface="+mn-lt"/>
                <a:cs typeface="+mn-lt"/>
              </a:rPr>
              <a:t>til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fil.</a:t>
            </a:r>
          </a:p>
          <a:p>
            <a:pPr marL="799200" lvl="1" indent="-457200">
              <a:buFont typeface="+mj-lt"/>
              <a:buAutoNum type="arabicPeriod"/>
            </a:pPr>
            <a:r>
              <a:rPr lang="en-US" dirty="0" err="1">
                <a:ea typeface="+mn-lt"/>
                <a:cs typeface="+mn-lt"/>
              </a:rPr>
              <a:t>Lav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agents.md (</a:t>
            </a:r>
            <a:r>
              <a:rPr lang="en-US" dirty="0" err="1">
                <a:ea typeface="+mn-lt"/>
                <a:cs typeface="+mn-lt"/>
              </a:rPr>
              <a:t>instruksfil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AI’en</a:t>
            </a:r>
            <a:r>
              <a:rPr lang="en-US" dirty="0">
                <a:ea typeface="+mn-lt"/>
                <a:cs typeface="+mn-lt"/>
              </a:rPr>
              <a:t>) </a:t>
            </a:r>
            <a:r>
              <a:rPr lang="en-US" dirty="0" err="1">
                <a:ea typeface="+mn-lt"/>
                <a:cs typeface="+mn-lt"/>
              </a:rPr>
              <a:t>eller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få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hjælp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af</a:t>
            </a:r>
            <a:r>
              <a:rPr lang="en-US" dirty="0">
                <a:ea typeface="+mn-lt"/>
                <a:cs typeface="+mn-lt"/>
              </a:rPr>
              <a:t> AI </a:t>
            </a:r>
            <a:r>
              <a:rPr lang="en-US" dirty="0" err="1">
                <a:ea typeface="+mn-lt"/>
                <a:cs typeface="+mn-lt"/>
              </a:rPr>
              <a:t>til</a:t>
            </a:r>
            <a:r>
              <a:rPr lang="en-US" dirty="0">
                <a:ea typeface="+mn-lt"/>
                <a:cs typeface="+mn-lt"/>
              </a:rPr>
              <a:t> at lave den.</a:t>
            </a:r>
          </a:p>
        </p:txBody>
      </p:sp>
    </p:spTree>
    <p:extLst>
      <p:ext uri="{BB962C8B-B14F-4D97-AF65-F5344CB8AC3E}">
        <p14:creationId xmlns:p14="http://schemas.microsoft.com/office/powerpoint/2010/main" val="788583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6C58-EBB9-6BFD-5DA6-4C081498E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AI er </a:t>
            </a:r>
            <a:r>
              <a:rPr lang="en-US" dirty="0" err="1">
                <a:latin typeface="Calibri"/>
                <a:ea typeface="Calibri"/>
                <a:cs typeface="Calibri"/>
              </a:rPr>
              <a:t>magisk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makker</a:t>
            </a:r>
            <a:r>
              <a:rPr lang="en-US" dirty="0"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latin typeface="Calibri"/>
                <a:ea typeface="Calibri"/>
                <a:cs typeface="Calibri"/>
              </a:rPr>
              <a:t>når</a:t>
            </a:r>
            <a:r>
              <a:rPr lang="en-US" dirty="0">
                <a:latin typeface="Calibri"/>
                <a:ea typeface="Calibri"/>
                <a:cs typeface="Calibri"/>
              </a:rPr>
              <a:t> man </a:t>
            </a:r>
            <a:r>
              <a:rPr lang="en-US" dirty="0" err="1">
                <a:latin typeface="Calibri"/>
                <a:ea typeface="Calibri"/>
                <a:cs typeface="Calibri"/>
              </a:rPr>
              <a:t>bruger</a:t>
            </a:r>
            <a:r>
              <a:rPr lang="en-US" dirty="0">
                <a:latin typeface="Calibri"/>
                <a:ea typeface="Calibri"/>
                <a:cs typeface="Calibri"/>
              </a:rPr>
              <a:t> den </a:t>
            </a:r>
            <a:r>
              <a:rPr lang="en-US" dirty="0" err="1">
                <a:latin typeface="Calibri"/>
                <a:ea typeface="Calibri"/>
                <a:cs typeface="Calibri"/>
              </a:rPr>
              <a:t>rigtigt</a:t>
            </a:r>
            <a:endParaRPr lang="en-US" dirty="0" err="1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AED59-9161-90EB-14FE-F7A3FCB4A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630" indent="-341630">
              <a:lnSpc>
                <a:spcPct val="150000"/>
              </a:lnSpc>
            </a:pPr>
            <a:r>
              <a:rPr lang="en-US" dirty="0" err="1">
                <a:ea typeface="Calibri"/>
                <a:cs typeface="Arial"/>
              </a:rPr>
              <a:t>Spørgsmål</a:t>
            </a:r>
            <a:r>
              <a:rPr lang="en-US" dirty="0">
                <a:ea typeface="Calibri"/>
                <a:cs typeface="Arial"/>
              </a:rPr>
              <a:t>?</a:t>
            </a:r>
            <a:endParaRPr lang="en-US" dirty="0">
              <a:ea typeface="Calibri"/>
            </a:endParaRPr>
          </a:p>
          <a:p>
            <a:pPr marL="341630" indent="-341630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Link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til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"alt“ her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og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bonus-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materialer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: </a:t>
            </a:r>
            <a:endParaRPr lang="en-US" dirty="0">
              <a:solidFill>
                <a:srgbClr val="000000"/>
              </a:solidFill>
              <a:latin typeface="Calibri"/>
              <a:ea typeface="Calibri"/>
            </a:endParaRPr>
          </a:p>
          <a:p>
            <a:pPr marL="683895" lvl="1" indent="-34163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  <a:hlinkClick r:id="rId2"/>
              </a:rPr>
              <a:t>https://github.com/steenhulthin/vibe-coding-kortdage-2025 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Arial" panose="020B0604020202020204" pitchFamily="34" charset="0"/>
            </a:endParaRPr>
          </a:p>
          <a:p>
            <a:pPr marL="683895" lvl="1" indent="-34163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  <a:hlinkClick r:id="rId3"/>
              </a:rPr>
              <a:t>https://steenhulthin.github.io/vibe-coding-kortdage-2025/ 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1390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0ED6A96-D26D-5B52-20A4-E15DAA4CF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Tak for jeres tid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18AA5EB5-A014-9D87-EAF5-C844C6247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587450006"/>
      </p:ext>
    </p:extLst>
  </p:cSld>
  <p:clrMapOvr>
    <a:masterClrMapping/>
  </p:clrMapOvr>
</p:sld>
</file>

<file path=ppt/theme/theme1.xml><?xml version="1.0" encoding="utf-8"?>
<a:theme xmlns:a="http://schemas.openxmlformats.org/drawingml/2006/main" name="SSI">
  <a:themeElements>
    <a:clrScheme name="SSI farver">
      <a:dk1>
        <a:sysClr val="windowText" lastClr="000000"/>
      </a:dk1>
      <a:lt1>
        <a:sysClr val="window" lastClr="FFFFFF"/>
      </a:lt1>
      <a:dk2>
        <a:srgbClr val="112048"/>
      </a:dk2>
      <a:lt2>
        <a:srgbClr val="541A23"/>
      </a:lt2>
      <a:accent1>
        <a:srgbClr val="B51412"/>
      </a:accent1>
      <a:accent2>
        <a:srgbClr val="DA7B27"/>
      </a:accent2>
      <a:accent3>
        <a:srgbClr val="7B8691"/>
      </a:accent3>
      <a:accent4>
        <a:srgbClr val="367F68"/>
      </a:accent4>
      <a:accent5>
        <a:srgbClr val="8092C6"/>
      </a:accent5>
      <a:accent6>
        <a:srgbClr val="3C6088"/>
      </a:accent6>
      <a:hlink>
        <a:srgbClr val="000000"/>
      </a:hlink>
      <a:folHlink>
        <a:srgbClr val="000000"/>
      </a:folHlink>
    </a:clrScheme>
    <a:fontScheme name="SSI font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SI_PowerPoint præsentation.potx" id="{74BA80A9-2F53-4B0F-8921-B3BE24D74B3B}" vid="{0358DCEB-EAEA-4474-88A1-DA99D19F9F3A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701BA1634B2B04D8AB99B32221FEA66" ma:contentTypeVersion="20" ma:contentTypeDescription="Opret et nyt dokument." ma:contentTypeScope="" ma:versionID="6bc72618500a8a6efef4e15fe3458a19">
  <xsd:schema xmlns:xsd="http://www.w3.org/2001/XMLSchema" xmlns:xs="http://www.w3.org/2001/XMLSchema" xmlns:p="http://schemas.microsoft.com/office/2006/metadata/properties" xmlns:ns2="12ff74cc-9611-4422-8f5f-2fd59a0d1353" xmlns:ns3="eee2f643-61f1-4bc5-bd2f-0ddea5310e08" targetNamespace="http://schemas.microsoft.com/office/2006/metadata/properties" ma:root="true" ma:fieldsID="fb24fa6afb0e51ed4580ee901350a5d1" ns2:_="" ns3:_="">
    <xsd:import namespace="12ff74cc-9611-4422-8f5f-2fd59a0d1353"/>
    <xsd:import namespace="eee2f643-61f1-4bc5-bd2f-0ddea5310e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MedCom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ff74cc-9611-4422-8f5f-2fd59a0d13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ledmærker" ma:readOnly="false" ma:fieldId="{5cf76f15-5ced-4ddc-b409-7134ff3c332f}" ma:taxonomyMulti="true" ma:sspId="b954ac37-474b-4ce9-96da-5e2495cdfa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2" nillable="true" ma:displayName="Godkendelsesstatus" ma:internalName="Godkendelsesstatus">
      <xsd:simpleType>
        <xsd:restriction base="dms:Text"/>
      </xsd:simpleType>
    </xsd:element>
    <xsd:element name="MedCom" ma:index="23" nillable="true" ma:displayName="MedCom" ma:internalName="MedCom">
      <xsd:simpleType>
        <xsd:restriction base="dms:Text">
          <xsd:maxLength value="255"/>
        </xsd:restriction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e2f643-61f1-4bc5-bd2f-0ddea5310e0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eb01b54-bb58-41c5-ae28-f67e6fd2db35}" ma:internalName="TaxCatchAll" ma:showField="CatchAllData" ma:web="eee2f643-61f1-4bc5-bd2f-0ddea5310e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ee2f643-61f1-4bc5-bd2f-0ddea5310e08" xsi:nil="true"/>
    <_Flow_SignoffStatus xmlns="12ff74cc-9611-4422-8f5f-2fd59a0d1353" xsi:nil="true"/>
    <lcf76f155ced4ddcb4097134ff3c332f xmlns="12ff74cc-9611-4422-8f5f-2fd59a0d1353">
      <Terms xmlns="http://schemas.microsoft.com/office/infopath/2007/PartnerControls"/>
    </lcf76f155ced4ddcb4097134ff3c332f>
    <MedCom xmlns="12ff74cc-9611-4422-8f5f-2fd59a0d1353" xsi:nil="true"/>
  </documentManagement>
</p:properties>
</file>

<file path=customXml/itemProps1.xml><?xml version="1.0" encoding="utf-8"?>
<ds:datastoreItem xmlns:ds="http://schemas.openxmlformats.org/officeDocument/2006/customXml" ds:itemID="{20E7631D-FF33-4A81-83A1-18D3900D12F5}">
  <ds:schemaRefs>
    <ds:schemaRef ds:uri="12ff74cc-9611-4422-8f5f-2fd59a0d1353"/>
    <ds:schemaRef ds:uri="eee2f643-61f1-4bc5-bd2f-0ddea5310e0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4AB1A68-8018-4E90-BA70-6DC9173B16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FB07D6-C42B-49DF-A2A6-03D56F926E75}">
  <ds:schemaRefs>
    <ds:schemaRef ds:uri="0154d2e8-1942-4867-bb72-5dd5ffd33c76"/>
    <ds:schemaRef ds:uri="12ff74cc-9611-4422-8f5f-2fd59a0d1353"/>
    <ds:schemaRef ds:uri="80c58e8e-93cf-47da-82f6-c0e4731431d9"/>
    <ds:schemaRef ds:uri="d440e853-7fad-4bf0-8b01-5fa2c2ef55aa"/>
    <ds:schemaRef ds:uri="eee2f643-61f1-4bc5-bd2f-0ddea5310e0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SSI_PowerPoint præsentation</Template>
  <TotalTime>645</TotalTime>
  <Words>1361</Words>
  <Application>Microsoft Office PowerPoint</Application>
  <PresentationFormat>Widescreen</PresentationFormat>
  <Paragraphs>142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Consolas</vt:lpstr>
      <vt:lpstr>Courier New</vt:lpstr>
      <vt:lpstr>Segoe UI</vt:lpstr>
      <vt:lpstr>SSI</vt:lpstr>
      <vt:lpstr>Vibe Coding og AI-assisteret udvikling af geodata-dashboards </vt:lpstr>
      <vt:lpstr>AI + data =&gt; dashboards på rekordtid </vt:lpstr>
      <vt:lpstr>Hvad er SSI (Statens Serum Institut)?</vt:lpstr>
      <vt:lpstr>Hvem er Steen Hulthin Rasmussen?</vt:lpstr>
      <vt:lpstr>Mission briefing og ambitionen </vt:lpstr>
      <vt:lpstr>Første aha-oplevelse (Optimisme -&gt; realisme) </vt:lpstr>
      <vt:lpstr>Hvad er AI-assisteret udvikling og “Vibe Coding”? </vt:lpstr>
      <vt:lpstr>Hvordan ser AI-assiteret udvikling ud?</vt:lpstr>
      <vt:lpstr>Hvordan ser Vibe Coding ud? </vt:lpstr>
      <vt:lpstr>Resultaterne – kunne AI lave dashboards med kort? Streamlit</vt:lpstr>
      <vt:lpstr>Streamlit - screenshot</vt:lpstr>
      <vt:lpstr>Dash </vt:lpstr>
      <vt:lpstr>Dash - screenshot</vt:lpstr>
      <vt:lpstr>Shiny – lignede meget Dash dashboardet</vt:lpstr>
      <vt:lpstr>ArcGIS – 3D scene</vt:lpstr>
      <vt:lpstr>ArcGIS - Screenshot</vt:lpstr>
      <vt:lpstr>Power BI</vt:lpstr>
      <vt:lpstr>Teknologierne vurderet i forhold til udvikling med AI </vt:lpstr>
      <vt:lpstr>Hvad er AI særligt velegnet til?</vt:lpstr>
      <vt:lpstr>Overvejelser om sikkerhed </vt:lpstr>
      <vt:lpstr>Tips til at bruge AI effektivt </vt:lpstr>
      <vt:lpstr>AI er magisk makker, når man bruger den rigtigt </vt:lpstr>
      <vt:lpstr>Tak for jeres tid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Gitte Konieczny</dc:creator>
  <cp:lastModifiedBy>Steen Hulthin Rasmussen</cp:lastModifiedBy>
  <cp:revision>107</cp:revision>
  <cp:lastPrinted>2022-08-16T11:35:41Z</cp:lastPrinted>
  <dcterms:created xsi:type="dcterms:W3CDTF">2023-02-22T09:31:22Z</dcterms:created>
  <dcterms:modified xsi:type="dcterms:W3CDTF">2025-11-07T16:33:03Z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0x0101007701BA1634B2B04D8AB99B32221FEA66</vt:lpwstr>
  </property>
  <property fmtid="{D5CDD505-2E9C-101B-9397-08002B2CF9AE}" pid="3" name="MediaServiceImageTags">
    <vt:lpwstr/>
  </property>
</Properties>
</file>