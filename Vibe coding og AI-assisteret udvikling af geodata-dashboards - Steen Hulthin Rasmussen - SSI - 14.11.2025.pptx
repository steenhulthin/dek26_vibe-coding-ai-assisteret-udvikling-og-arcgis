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</p:sldMasterIdLst>
  <p:notesMasterIdLst>
    <p:notesMasterId r:id="rId28"/>
  </p:notesMasterIdLst>
  <p:sldIdLst>
    <p:sldId id="364" r:id="rId5"/>
    <p:sldId id="362" r:id="rId6"/>
    <p:sldId id="369" r:id="rId7"/>
    <p:sldId id="373" r:id="rId8"/>
    <p:sldId id="375" r:id="rId9"/>
    <p:sldId id="365" r:id="rId10"/>
    <p:sldId id="374" r:id="rId11"/>
    <p:sldId id="376" r:id="rId12"/>
    <p:sldId id="377" r:id="rId13"/>
    <p:sldId id="382" r:id="rId14"/>
    <p:sldId id="383" r:id="rId15"/>
    <p:sldId id="390" r:id="rId16"/>
    <p:sldId id="392" r:id="rId17"/>
    <p:sldId id="391" r:id="rId18"/>
    <p:sldId id="385" r:id="rId19"/>
    <p:sldId id="386" r:id="rId20"/>
    <p:sldId id="387" r:id="rId21"/>
    <p:sldId id="388" r:id="rId22"/>
    <p:sldId id="389" r:id="rId23"/>
    <p:sldId id="393" r:id="rId24"/>
    <p:sldId id="395" r:id="rId25"/>
    <p:sldId id="394" r:id="rId26"/>
    <p:sldId id="367" r:id="rId27"/>
  </p:sldIdLst>
  <p:sldSz cx="12192000" cy="6858000"/>
  <p:notesSz cx="6805613" cy="99441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01027AF5-2A42-4A54-A5D0-3CE2FDA27243}">
          <p14:sldIdLst>
            <p14:sldId id="364"/>
            <p14:sldId id="362"/>
            <p14:sldId id="369"/>
            <p14:sldId id="373"/>
            <p14:sldId id="375"/>
            <p14:sldId id="365"/>
            <p14:sldId id="374"/>
            <p14:sldId id="376"/>
            <p14:sldId id="377"/>
            <p14:sldId id="382"/>
            <p14:sldId id="383"/>
            <p14:sldId id="390"/>
            <p14:sldId id="392"/>
            <p14:sldId id="391"/>
            <p14:sldId id="385"/>
            <p14:sldId id="386"/>
            <p14:sldId id="387"/>
            <p14:sldId id="388"/>
            <p14:sldId id="389"/>
            <p14:sldId id="393"/>
            <p14:sldId id="395"/>
            <p14:sldId id="394"/>
            <p14:sldId id="367"/>
          </p14:sldIdLst>
        </p14:section>
        <p14:section name="Inspiration &amp; vejledning" id="{0A638584-7DFA-445B-814D-C8A7CEA08089}">
          <p14:sldIdLst/>
        </p14:section>
        <p14:section name="Eksempler på forsideslides" id="{C8A40E49-04FA-47F4-96D9-1DCB77C5AF85}">
          <p14:sldIdLst/>
        </p14:section>
        <p14:section name="Eksempler på indholdsslides" id="{552C3CB6-FBEA-4DD1-84BF-F65A7BFF9520}">
          <p14:sldIdLst/>
        </p14:section>
        <p14:section name="Eksempel på afslutningsslide" id="{BF9426C9-475D-4087-80A2-222F516EC59D}">
          <p14:sldIdLst/>
        </p14:section>
        <p14:section name="Grafiske elementer" id="{2DDAA27B-F89D-4596-8A67-849839F49941}">
          <p14:sldIdLst/>
        </p14:section>
      </p14:sectionLst>
    </p:ext>
    <p:ext uri="{EFAFB233-063F-42B5-8137-9DF3F51BA10A}">
      <p15:sldGuideLst xmlns:p15="http://schemas.microsoft.com/office/powerpoint/2012/main">
        <p15:guide id="2" pos="4906" userDrawn="1">
          <p15:clr>
            <a:srgbClr val="A4A3A4"/>
          </p15:clr>
        </p15:guide>
        <p15:guide id="3" pos="5654" userDrawn="1">
          <p15:clr>
            <a:srgbClr val="A4A3A4"/>
          </p15:clr>
        </p15:guide>
        <p15:guide id="8" pos="3001" userDrawn="1">
          <p15:clr>
            <a:srgbClr val="A4A3A4"/>
          </p15:clr>
        </p15:guide>
        <p15:guide id="11" pos="1141" userDrawn="1">
          <p15:clr>
            <a:srgbClr val="A4A3A4"/>
          </p15:clr>
        </p15:guide>
        <p15:guide id="12" orient="horz" pos="3430" userDrawn="1">
          <p15:clr>
            <a:srgbClr val="A4A3A4"/>
          </p15:clr>
        </p15:guide>
        <p15:guide id="13" pos="2048" userDrawn="1">
          <p15:clr>
            <a:srgbClr val="A4A3A4"/>
          </p15:clr>
        </p15:guide>
        <p15:guide id="17" orient="horz" pos="3067" userDrawn="1">
          <p15:clr>
            <a:srgbClr val="A4A3A4"/>
          </p15:clr>
        </p15:guide>
        <p15:guide id="18" orient="horz" pos="935" userDrawn="1">
          <p15:clr>
            <a:srgbClr val="A4A3A4"/>
          </p15:clr>
        </p15:guide>
        <p15:guide id="19" orient="horz" pos="3498" userDrawn="1">
          <p15:clr>
            <a:srgbClr val="A4A3A4"/>
          </p15:clr>
        </p15:guide>
        <p15:guide id="20" orient="horz" pos="3974" userDrawn="1">
          <p15:clr>
            <a:srgbClr val="A4A3A4"/>
          </p15:clr>
        </p15:guide>
        <p15:guide id="21" pos="2570" userDrawn="1">
          <p15:clr>
            <a:srgbClr val="A4A3A4"/>
          </p15:clr>
        </p15:guide>
        <p15:guide id="22" pos="3386" userDrawn="1">
          <p15:clr>
            <a:srgbClr val="A4A3A4"/>
          </p15:clr>
        </p15:guide>
        <p15:guide id="23" pos="4294" userDrawn="1">
          <p15:clr>
            <a:srgbClr val="A4A3A4"/>
          </p15:clr>
        </p15:guide>
        <p15:guide id="24" pos="5337" userDrawn="1">
          <p15:clr>
            <a:srgbClr val="A4A3A4"/>
          </p15:clr>
        </p15:guide>
        <p15:guide id="25" orient="horz" pos="1865" userDrawn="1">
          <p15:clr>
            <a:srgbClr val="A4A3A4"/>
          </p15:clr>
        </p15:guide>
        <p15:guide id="26" orient="horz" pos="1389" userDrawn="1">
          <p15:clr>
            <a:srgbClr val="A4A3A4"/>
          </p15:clr>
        </p15:guide>
        <p15:guide id="27" pos="3840" userDrawn="1">
          <p15:clr>
            <a:srgbClr val="A4A3A4"/>
          </p15:clr>
        </p15:guide>
        <p15:guide id="28" orient="horz" pos="754" userDrawn="1">
          <p15:clr>
            <a:srgbClr val="A4A3A4"/>
          </p15:clr>
        </p15:guide>
        <p15:guide id="29" pos="1572" userDrawn="1">
          <p15:clr>
            <a:srgbClr val="A4A3A4"/>
          </p15:clr>
        </p15:guide>
        <p15:guide id="30" pos="688" userDrawn="1">
          <p15:clr>
            <a:srgbClr val="A4A3A4"/>
          </p15:clr>
        </p15:guide>
        <p15:guide id="31" pos="461" userDrawn="1">
          <p15:clr>
            <a:srgbClr val="A4A3A4"/>
          </p15:clr>
        </p15:guide>
        <p15:guide id="32" pos="6108" userDrawn="1">
          <p15:clr>
            <a:srgbClr val="A4A3A4"/>
          </p15:clr>
        </p15:guide>
        <p15:guide id="33" pos="649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446" userDrawn="1">
          <p15:clr>
            <a:srgbClr val="A4A3A4"/>
          </p15:clr>
        </p15:guide>
        <p15:guide id="36" orient="horz" pos="527" userDrawn="1">
          <p15:clr>
            <a:srgbClr val="A4A3A4"/>
          </p15:clr>
        </p15:guide>
        <p15:guide id="37" orient="horz" pos="22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3F0D"/>
    <a:srgbClr val="788313"/>
    <a:srgbClr val="120B3D"/>
    <a:srgbClr val="586D8A"/>
    <a:srgbClr val="DCDADA"/>
    <a:srgbClr val="FFCC29"/>
    <a:srgbClr val="ED7D31"/>
    <a:srgbClr val="B51412"/>
    <a:srgbClr val="D4D2D2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422515-30C6-1C39-6B15-D4F49845B4F3}" v="197" dt="2025-11-04T16:38:35.062"/>
    <p1510:client id="{AD48AFF0-5645-E71B-6DED-B80815E30825}" v="201" dt="2025-11-04T17:10:59.361"/>
    <p1510:client id="{FF293799-029F-0010-1764-D1B919E6F533}" v="353" dt="2025-11-04T16:14:49.2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7" d="100"/>
          <a:sy n="107" d="100"/>
        </p:scale>
        <p:origin x="714" y="102"/>
      </p:cViewPr>
      <p:guideLst>
        <p:guide pos="4906"/>
        <p:guide pos="5654"/>
        <p:guide pos="3001"/>
        <p:guide pos="1141"/>
        <p:guide orient="horz" pos="3430"/>
        <p:guide pos="2048"/>
        <p:guide orient="horz" pos="3067"/>
        <p:guide orient="horz" pos="935"/>
        <p:guide orient="horz" pos="3498"/>
        <p:guide orient="horz" pos="3974"/>
        <p:guide pos="2570"/>
        <p:guide pos="3386"/>
        <p:guide pos="4294"/>
        <p:guide pos="5337"/>
        <p:guide orient="horz" pos="1865"/>
        <p:guide orient="horz" pos="1389"/>
        <p:guide pos="3840"/>
        <p:guide orient="horz" pos="754"/>
        <p:guide pos="1572"/>
        <p:guide pos="688"/>
        <p:guide pos="461"/>
        <p:guide pos="6108"/>
        <p:guide pos="6494"/>
        <p:guide pos="6992"/>
        <p:guide pos="7446"/>
        <p:guide orient="horz" pos="527"/>
        <p:guide orient="horz" pos="225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5494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r">
              <a:defRPr sz="1300"/>
            </a:lvl1pPr>
          </a:lstStyle>
          <a:p>
            <a:fld id="{8626F44B-62AD-4BD9-9C5A-F0A4BDDA55B5}" type="datetimeFigureOut">
              <a:rPr lang="da-DK" smtClean="0"/>
              <a:t>20-05-2026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709" tIns="47854" rIns="95709" bIns="47854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562" y="4785599"/>
            <a:ext cx="5444490" cy="3915489"/>
          </a:xfrm>
          <a:prstGeom prst="rect">
            <a:avLst/>
          </a:prstGeom>
        </p:spPr>
        <p:txBody>
          <a:bodyPr vert="horz" lIns="95709" tIns="47854" rIns="95709" bIns="47854" rtlCol="0"/>
          <a:lstStyle/>
          <a:p>
            <a:pPr lvl="0"/>
            <a:r>
              <a:rPr lang="da-DK"/>
              <a:t>Rediger typografien i masterens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5494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r">
              <a:defRPr sz="1300"/>
            </a:lvl1pPr>
          </a:lstStyle>
          <a:p>
            <a:fld id="{D23D4202-0DCF-4805-B145-3EFFB62894C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6764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78997079-19E8-0102-64CE-9781C5D592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63952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Undertitel 2" descr="Undertitel">
            <a:extLst>
              <a:ext uri="{FF2B5EF4-FFF2-40B4-BE49-F238E27FC236}">
                <a16:creationId xmlns:a16="http://schemas.microsoft.com/office/drawing/2014/main" id="{D72CFAF7-5A75-85CA-EC70-A6CDC25A0A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743068"/>
            <a:ext cx="10740524" cy="396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65282F5F-A9C1-A6A3-74F0-8B552B1F7D3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38528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C474130E-C4C1-D82B-C9F7-637A4DBB8F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50000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86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3581105E-F817-C145-97BB-C7D4F54712D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5731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FC0C01D6-6CA6-4F12-FF60-2B95D12038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4826920"/>
            <a:ext cx="9684000" cy="1080000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 sz="1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8" name="Titel 1" descr="Titel">
            <a:extLst>
              <a:ext uri="{FF2B5EF4-FFF2-40B4-BE49-F238E27FC236}">
                <a16:creationId xmlns:a16="http://schemas.microsoft.com/office/drawing/2014/main" id="{E762EBF9-E279-12E7-1B5C-7E9E99A23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44902"/>
            <a:ext cx="824848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Titel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365B4CD8-AE7A-E991-B525-BA6D844AD2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869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overskrift, teks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 descr="Titel">
            <a:extLst>
              <a:ext uri="{FF2B5EF4-FFF2-40B4-BE49-F238E27FC236}">
                <a16:creationId xmlns:a16="http://schemas.microsoft.com/office/drawing/2014/main" id="{695B6DD0-9934-65E2-80CE-55E733B6E55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350083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2" name="Undertitel 2" descr="Undertitel">
            <a:extLst>
              <a:ext uri="{FF2B5EF4-FFF2-40B4-BE49-F238E27FC236}">
                <a16:creationId xmlns:a16="http://schemas.microsoft.com/office/drawing/2014/main" id="{65BBCEE8-D9DC-A62B-FED6-D47FBFAC30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029199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EC3BF41-0C90-F8E9-28F9-001BA89CE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33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grå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61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F47CEFC1-22DA-ADC7-1A8E-44F082D606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460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438AC044-7C72-820B-836A-2B24068D4F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094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6F8413A-A27F-E82A-1B69-C116CC3909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7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  <a:p>
            <a:endParaRPr lang="da-DK" noProof="0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B570424C-70C0-BB37-0B68-929EE02FA7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806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48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31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1F9D6DA-AAD0-21F5-FBCA-57B49981CB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345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9465933D-3A92-B94B-A4F9-B34DA59D73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89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A47D9B49-DF24-56BF-DBA3-85C3D5925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800" y="288000"/>
            <a:ext cx="1467960" cy="53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5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t billede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Pladsholder til indhold 2" descr="Indhold">
            <a:extLst>
              <a:ext uri="{FF2B5EF4-FFF2-40B4-BE49-F238E27FC236}">
                <a16:creationId xmlns:a16="http://schemas.microsoft.com/office/drawing/2014/main" id="{97246CA3-2029-0DA4-2145-31E22119712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486274" y="1921877"/>
            <a:ext cx="3336771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494000"/>
            <a:ext cx="81180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3CB3152A-5AB9-8BB6-3EE0-AA54561523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2300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1494000"/>
            <a:ext cx="12192001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C489BEC-FB90-5245-5607-E716A5767A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751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810A4-B363-F2E9-3332-C97813468B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718218"/>
            <a:ext cx="92902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da-DK"/>
              <a:t>Skjult titel – skal udfyldes </a:t>
            </a:r>
            <a:r>
              <a:rPr lang="da-DK" err="1"/>
              <a:t>mhb</a:t>
            </a:r>
            <a:r>
              <a:rPr lang="da-DK"/>
              <a:t>. tilgængelighed</a:t>
            </a:r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1" cy="6858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085447F4-A771-68F8-31AF-17C9E09E46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412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EE74B7F7-010B-8F00-1F2D-CBFCABD8C9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8662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B37B97B1-8765-D76D-6124-F1A481A80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7839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rvel og t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501D1D0-2764-D166-8AE0-235366ABB5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000" y="3254395"/>
            <a:ext cx="4212000" cy="1476000"/>
          </a:xfrm>
        </p:spPr>
        <p:txBody>
          <a:bodyPr anchor="ctr" anchorCtr="0">
            <a:noAutofit/>
          </a:bodyPr>
          <a:lstStyle>
            <a:lvl1pPr>
              <a:defRPr lang="da-DK" sz="4400" b="1" kern="1200" cap="none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accent1"/>
              </a:buClr>
              <a:buFontTx/>
              <a:buNone/>
            </a:pPr>
            <a:r>
              <a:rPr lang="da-DK"/>
              <a:t>Tekst</a:t>
            </a:r>
          </a:p>
        </p:txBody>
      </p:sp>
      <p:sp>
        <p:nvSpPr>
          <p:cNvPr id="9" name="Pladsholder til billede 8">
            <a:extLst>
              <a:ext uri="{FF2B5EF4-FFF2-40B4-BE49-F238E27FC236}">
                <a16:creationId xmlns:a16="http://schemas.microsoft.com/office/drawing/2014/main" id="{F1BD2816-02B1-E399-C7CF-B0ABF241A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  <a:noFill/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1" name="Billede 10">
            <a:extLst>
              <a:ext uri="{FF2B5EF4-FFF2-40B4-BE49-F238E27FC236}">
                <a16:creationId xmlns:a16="http://schemas.microsoft.com/office/drawing/2014/main" id="{459A3834-E0B2-18F1-A51E-E71BAC9FD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686" y="3115928"/>
            <a:ext cx="1752935" cy="1752935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6045DD33-B123-76EA-CCD1-6F4CED3DEB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372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 descr="Titel">
            <a:extLst>
              <a:ext uri="{FF2B5EF4-FFF2-40B4-BE49-F238E27FC236}">
                <a16:creationId xmlns:a16="http://schemas.microsoft.com/office/drawing/2014/main" id="{3A5803CF-0F69-4E3C-6FD0-DAC1D496E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53357"/>
            <a:ext cx="9290274" cy="504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da-DK"/>
              <a:t>Titel</a:t>
            </a:r>
          </a:p>
        </p:txBody>
      </p:sp>
      <p:sp>
        <p:nvSpPr>
          <p:cNvPr id="3" name="Pladsholder til tekst 2" descr="Indhold">
            <a:extLst>
              <a:ext uri="{FF2B5EF4-FFF2-40B4-BE49-F238E27FC236}">
                <a16:creationId xmlns:a16="http://schemas.microsoft.com/office/drawing/2014/main" id="{8A58E58A-C131-C47D-D3A3-3D05C8941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999" y="1921877"/>
            <a:ext cx="11103711" cy="439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da-DK"/>
              <a:t>Tekst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9BBEDB5-9CD1-62D9-0474-36CA0453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0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E0C0513-934A-41A1-AF92-F7422FCEADC1}" type="datetimeFigureOut">
              <a:rPr lang="da-DK" smtClean="0"/>
              <a:pPr/>
              <a:t>20-05-2026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D4F00D-609D-0332-69BD-1DD2FE1A4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99020" y="6481011"/>
            <a:ext cx="41148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F9D7881-05FB-C3E1-8B4A-FB7F2B2E46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051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50DE7CE-C3B6-4610-96B0-534B01CDCF4F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8629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96" r:id="rId5"/>
    <p:sldLayoutId id="2147483686" r:id="rId6"/>
    <p:sldLayoutId id="2147483685" r:id="rId7"/>
    <p:sldLayoutId id="2147483697" r:id="rId8"/>
    <p:sldLayoutId id="2147483679" r:id="rId9"/>
    <p:sldLayoutId id="2147483699" r:id="rId10"/>
    <p:sldLayoutId id="2147483687" r:id="rId11"/>
    <p:sldLayoutId id="2147483688" r:id="rId12"/>
    <p:sldLayoutId id="2147483689" r:id="rId13"/>
    <p:sldLayoutId id="2147483698" r:id="rId14"/>
    <p:sldLayoutId id="2147483690" r:id="rId15"/>
    <p:sldLayoutId id="2147483691" r:id="rId16"/>
    <p:sldLayoutId id="2147483692" r:id="rId17"/>
    <p:sldLayoutId id="2147483694" r:id="rId18"/>
    <p:sldLayoutId id="2147483695" r:id="rId19"/>
    <p:sldLayoutId id="2147483693" r:id="rId20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buNone/>
        <a:defRPr lang="en-GB" sz="3200" b="1" kern="1200" cap="none" baseline="0" dirty="0">
          <a:solidFill>
            <a:srgbClr val="B51412"/>
          </a:solidFill>
          <a:latin typeface="+mn-lt"/>
          <a:ea typeface="+mj-ea"/>
          <a:cs typeface="+mj-cs"/>
        </a:defRPr>
      </a:lvl1pPr>
    </p:titleStyle>
    <p:bodyStyle>
      <a:lvl1pPr marL="34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lang="da-DK" sz="2400" kern="120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84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026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68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9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si.dk/aktuelt/nyheder/2024/millionstoette-til-ai-drevet-forskning-i-blodforgiftning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steenhulthin.github.io/vibe-coding-kortdage-2025/" TargetMode="Externa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teenhulthin.github.io/docker4agentic_coding/" TargetMode="External"/><Relationship Id="rId2" Type="http://schemas.openxmlformats.org/officeDocument/2006/relationships/hyperlink" Target="https://steenhulthin.github.io/DagensDashboard/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docs.google.com/forms/d/e/1FAIpQLScbNMKm-HVA6YQ1L6K5LPDVWye5Ue9x8aKijKaySYvAvLGXcw/viewform?pli=1" TargetMode="External"/><Relationship Id="rId4" Type="http://schemas.openxmlformats.org/officeDocument/2006/relationships/hyperlink" Target="https://www.youtube.com/playlist?list=PLktLjJ230F_3LRG82QQs6jMQiQzLWFtV4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2CAF4-74DD-F8DC-685F-01E721B84C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da-DK" b="1" dirty="0">
                <a:effectLst/>
              </a:rPr>
              <a:t>Vibe </a:t>
            </a:r>
            <a:r>
              <a:rPr lang="da-DK" b="1" dirty="0" err="1">
                <a:effectLst/>
              </a:rPr>
              <a:t>coding</a:t>
            </a:r>
            <a:r>
              <a:rPr lang="da-DK" b="1" dirty="0">
                <a:effectLst/>
              </a:rPr>
              <a:t>, AI-assisteret udvikling og </a:t>
            </a:r>
            <a:r>
              <a:rPr lang="da-DK" b="1" dirty="0" err="1">
                <a:effectLst/>
              </a:rPr>
              <a:t>ArcGIS</a:t>
            </a:r>
            <a:endParaRPr lang="en-GB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442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>
            <a:extLst>
              <a:ext uri="{FF2B5EF4-FFF2-40B4-BE49-F238E27FC236}">
                <a16:creationId xmlns:a16="http://schemas.microsoft.com/office/drawing/2014/main" id="{14D4D76C-8DC1-C33F-AEEE-430CAF79B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2374" y="5378277"/>
            <a:ext cx="10740525" cy="684000"/>
          </a:xfrm>
        </p:spPr>
        <p:txBody>
          <a:bodyPr>
            <a:normAutofit/>
          </a:bodyPr>
          <a:lstStyle/>
          <a:p>
            <a:r>
              <a:rPr lang="da-DK" sz="3200">
                <a:solidFill>
                  <a:srgbClr val="B51412"/>
                </a:solidFill>
                <a:latin typeface="Calibri"/>
                <a:ea typeface="Calibri"/>
                <a:cs typeface="Calibri"/>
              </a:rPr>
              <a:t>AI + data =&gt; dashboards på rekordtid</a:t>
            </a:r>
            <a:endParaRPr lang="en-US"/>
          </a:p>
          <a:p>
            <a:endParaRPr lang="da-DK" sz="3200">
              <a:ea typeface="Calibri"/>
              <a:cs typeface="Calibri"/>
            </a:endParaRP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04ED070-EF61-D477-2474-1DFFABB4073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pic>
        <p:nvPicPr>
          <p:cNvPr id="4" name="Pladsholder til billede 17">
            <a:extLst>
              <a:ext uri="{FF2B5EF4-FFF2-40B4-BE49-F238E27FC236}">
                <a16:creationId xmlns:a16="http://schemas.microsoft.com/office/drawing/2014/main" id="{F13DC927-9E9D-FC18-44B6-6815EF6F3A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22" b="10646"/>
          <a:stretch/>
        </p:blipFill>
        <p:spPr>
          <a:xfrm>
            <a:off x="0" y="1126799"/>
            <a:ext cx="12192000" cy="3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6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3B007-46C8-F833-9795-8D2E6434B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Hvad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er</a:t>
            </a:r>
            <a:r>
              <a:rPr lang="en-US" dirty="0">
                <a:ea typeface="Calibri"/>
                <a:cs typeface="Calibri"/>
              </a:rPr>
              <a:t> SSI (Statens Serum Institut)?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721B0-FF19-2170-252C-BD397E005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930842"/>
            <a:ext cx="11103711" cy="4392000"/>
          </a:xfrm>
        </p:spPr>
        <p:txBody>
          <a:bodyPr>
            <a:normAutofit/>
          </a:bodyPr>
          <a:lstStyle/>
          <a:p>
            <a:pPr marL="341630" indent="-341630"/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Hvad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hvem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SSI?</a:t>
            </a:r>
            <a:endParaRPr lang="en-US" sz="2800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under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Indenrigs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Sundhedsministeriet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forebygger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bekæmper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infektionssygdomme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medfødte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sygdomme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1630" lvl="0" indent="-341630">
              <a:buClr>
                <a:srgbClr val="B51412"/>
              </a:buClr>
            </a:pPr>
            <a:r>
              <a:rPr lang="en-US" sz="2800" dirty="0" err="1">
                <a:solidFill>
                  <a:srgbClr val="000000"/>
                </a:solidFill>
                <a:ea typeface="Calibri"/>
                <a:cs typeface="Arial"/>
              </a:rPr>
              <a:t>H</a:t>
            </a:r>
            <a:r>
              <a:rPr lang="en-US" sz="2800" dirty="0" err="1">
                <a:solidFill>
                  <a:srgbClr val="000000"/>
                </a:solidFill>
                <a:ea typeface="Calibri"/>
                <a:cs typeface="Calibri"/>
              </a:rPr>
              <a:t>vordan</a:t>
            </a:r>
            <a:r>
              <a:rPr lang="en-US" sz="2800" dirty="0">
                <a:solidFill>
                  <a:srgbClr val="000000"/>
                </a:solidFill>
                <a:ea typeface="Calibri"/>
                <a:cs typeface="Calibri"/>
              </a:rPr>
              <a:t> </a:t>
            </a:r>
            <a:r>
              <a:rPr lang="en-US" sz="2800" dirty="0" err="1">
                <a:solidFill>
                  <a:srgbClr val="000000"/>
                </a:solidFill>
                <a:ea typeface="Calibri"/>
                <a:cs typeface="Calibri"/>
              </a:rPr>
              <a:t>arbejder</a:t>
            </a:r>
            <a:r>
              <a:rPr lang="en-US" sz="2800" dirty="0">
                <a:solidFill>
                  <a:srgbClr val="000000"/>
                </a:solidFill>
                <a:ea typeface="Calibri"/>
                <a:cs typeface="Calibri"/>
              </a:rPr>
              <a:t> vi med AI</a:t>
            </a:r>
            <a:r>
              <a:rPr lang="en-US" sz="2800" dirty="0">
                <a:solidFill>
                  <a:srgbClr val="000000"/>
                </a:solidFill>
                <a:ea typeface="Calibri"/>
                <a:cs typeface="Arial"/>
              </a:rPr>
              <a:t>?</a:t>
            </a: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har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nedskrevne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retninglinjer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muligheder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at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søge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om at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benytte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nye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måder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nye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sammenhænge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seriøst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 se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fx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blodforgiftningsprojekt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 med AI-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har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godkendt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AI-prompt. </a:t>
            </a:r>
            <a:endParaRPr lang="en-US" dirty="0">
              <a:ea typeface="Calibri"/>
              <a:cs typeface="Calibri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264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A3BE-0623-3889-2644-F716183F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Hvem</a:t>
            </a:r>
            <a:r>
              <a:rPr lang="en-US">
                <a:latin typeface="Calibri"/>
                <a:ea typeface="Calibri"/>
                <a:cs typeface="Calibri"/>
              </a:rPr>
              <a:t> er Steen </a:t>
            </a:r>
            <a:r>
              <a:rPr lang="en-US" err="1">
                <a:latin typeface="Calibri"/>
                <a:ea typeface="Calibri"/>
                <a:cs typeface="Calibri"/>
              </a:rPr>
              <a:t>Hulthin</a:t>
            </a:r>
            <a:r>
              <a:rPr lang="en-US">
                <a:latin typeface="Calibri"/>
                <a:ea typeface="Calibri"/>
                <a:cs typeface="Calibri"/>
              </a:rPr>
              <a:t> Rasmussen?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321C7-DE43-DA87-97C8-11F4CC7E5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929" y="1775011"/>
            <a:ext cx="6471781" cy="4538866"/>
          </a:xfrm>
        </p:spPr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Steen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datadomptør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udvikler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kaffedrikker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Steen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arbejder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daglig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med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datapipelines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udvikling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dashboards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Steen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AI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lige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dele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fremtiden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fantastisk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værktøj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skræmmende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fascinerende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kildekritikfremkaldende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endParaRPr lang="en-US" dirty="0">
              <a:ea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EF41A1-E6BB-2565-F429-D6FFC1464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42" y="1775011"/>
            <a:ext cx="4536279" cy="453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6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1E846-52CA-2B0D-FF23-25DBFCF4A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>
                <a:latin typeface="Calibri"/>
                <a:ea typeface="Calibri"/>
                <a:cs typeface="Calibri"/>
              </a:rPr>
              <a:t>Mission briefing </a:t>
            </a:r>
            <a:r>
              <a:rPr lang="en-US" err="1">
                <a:latin typeface="Calibri"/>
                <a:ea typeface="Calibri"/>
                <a:cs typeface="Calibri"/>
              </a:rPr>
              <a:t>og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ambitionen</a:t>
            </a:r>
            <a:endParaRPr lang="en-US" err="1"/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B663-BD64-8E36-D77C-A6646F250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183341"/>
            <a:ext cx="11103711" cy="5130536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 err="1">
                <a:ea typeface="Calibri"/>
                <a:cs typeface="Arial"/>
              </a:rPr>
              <a:t>Mål</a:t>
            </a:r>
            <a:r>
              <a:rPr lang="en-US" dirty="0">
                <a:ea typeface="Calibri"/>
                <a:cs typeface="Arial"/>
              </a:rPr>
              <a:t>: </a:t>
            </a:r>
            <a:r>
              <a:rPr lang="en-US" dirty="0" err="1">
                <a:ea typeface="Calibri"/>
                <a:cs typeface="Arial"/>
              </a:rPr>
              <a:t>bygge</a:t>
            </a:r>
            <a:r>
              <a:rPr lang="en-US" dirty="0">
                <a:ea typeface="Calibri"/>
                <a:cs typeface="Arial"/>
              </a:rPr>
              <a:t> dashboards </a:t>
            </a:r>
            <a:r>
              <a:rPr lang="en-US" dirty="0" err="1">
                <a:ea typeface="Calibri"/>
                <a:cs typeface="Arial"/>
              </a:rPr>
              <a:t>hurtigt</a:t>
            </a:r>
            <a:r>
              <a:rPr lang="en-US" dirty="0">
                <a:ea typeface="Calibri"/>
                <a:cs typeface="Arial"/>
              </a:rPr>
              <a:t> </a:t>
            </a:r>
            <a:r>
              <a:rPr lang="en-US" dirty="0" err="1">
                <a:ea typeface="Calibri"/>
                <a:cs typeface="Arial"/>
              </a:rPr>
              <a:t>og</a:t>
            </a:r>
            <a:r>
              <a:rPr lang="en-US" dirty="0">
                <a:ea typeface="Calibri"/>
                <a:cs typeface="Arial"/>
              </a:rPr>
              <a:t> spare DEK-</a:t>
            </a:r>
            <a:r>
              <a:rPr lang="en-US" dirty="0" err="1">
                <a:ea typeface="Calibri"/>
                <a:cs typeface="Arial"/>
              </a:rPr>
              <a:t>deltagerne</a:t>
            </a:r>
            <a:r>
              <a:rPr lang="en-US" dirty="0">
                <a:ea typeface="Calibri"/>
                <a:cs typeface="Arial"/>
              </a:rPr>
              <a:t> for </a:t>
            </a:r>
            <a:r>
              <a:rPr lang="en-US" dirty="0" err="1">
                <a:ea typeface="Calibri"/>
                <a:cs typeface="Arial"/>
              </a:rPr>
              <a:t>faldgruberne</a:t>
            </a:r>
            <a:endParaRPr lang="en-US" dirty="0">
              <a:ea typeface="Calibri"/>
              <a:cs typeface="Arial"/>
            </a:endParaRPr>
          </a:p>
          <a:p>
            <a:pPr marL="341630" indent="-341630"/>
            <a:r>
              <a:rPr lang="en-US" dirty="0">
                <a:ea typeface="Calibri"/>
                <a:cs typeface="Calibri"/>
              </a:rPr>
              <a:t>Data: COVID-19 </a:t>
            </a:r>
            <a:r>
              <a:rPr lang="en-US" dirty="0" err="1">
                <a:ea typeface="Calibri"/>
                <a:cs typeface="Calibri"/>
              </a:rPr>
              <a:t>tal</a:t>
            </a:r>
            <a:r>
              <a:rPr lang="en-US" dirty="0">
                <a:ea typeface="Calibri"/>
                <a:cs typeface="Calibri"/>
              </a:rPr>
              <a:t> for </a:t>
            </a:r>
            <a:r>
              <a:rPr lang="en-US" dirty="0" err="1">
                <a:ea typeface="Calibri"/>
                <a:cs typeface="Calibri"/>
              </a:rPr>
              <a:t>indlæggelser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og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død</a:t>
            </a:r>
            <a:endParaRPr lang="en-US" sz="1800" dirty="0">
              <a:ea typeface="Calibri"/>
              <a:cs typeface="Calibri"/>
            </a:endParaRPr>
          </a:p>
          <a:p>
            <a:pPr marL="683630" lvl="1" indent="-341630"/>
            <a:r>
              <a:rPr lang="en-US" sz="1800" dirty="0">
                <a:ea typeface="Calibri"/>
                <a:cs typeface="Calibri"/>
              </a:rPr>
              <a:t>EU: ECDC - European Centre for Disease Prevention and Control </a:t>
            </a:r>
          </a:p>
          <a:p>
            <a:pPr marL="683630" lvl="1" indent="-341630"/>
            <a:r>
              <a:rPr lang="en-US" sz="1800" dirty="0">
                <a:ea typeface="Calibri"/>
                <a:cs typeface="Calibri"/>
              </a:rPr>
              <a:t>Dansk: SSI </a:t>
            </a:r>
            <a:endParaRPr lang="en-US" sz="1800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Calibri"/>
              </a:rPr>
              <a:t>Værktøjer</a:t>
            </a:r>
            <a:r>
              <a:rPr lang="en-US" dirty="0">
                <a:ea typeface="Calibri"/>
                <a:cs typeface="Calibri"/>
              </a:rPr>
              <a:t>: ArcGIS (Python API + Dashboards/Viewer)</a:t>
            </a:r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Calibri"/>
              </a:rPr>
              <a:t>Tidsramme</a:t>
            </a:r>
            <a:r>
              <a:rPr lang="en-US" dirty="0">
                <a:ea typeface="Calibri"/>
                <a:cs typeface="Calibri"/>
              </a:rPr>
              <a:t>: 5 </a:t>
            </a:r>
            <a:r>
              <a:rPr lang="en-US" dirty="0" err="1">
                <a:ea typeface="Calibri"/>
                <a:cs typeface="Calibri"/>
              </a:rPr>
              <a:t>fredage</a:t>
            </a:r>
            <a:r>
              <a:rPr lang="en-US" dirty="0">
                <a:ea typeface="Calibri"/>
                <a:cs typeface="Calibri"/>
              </a:rPr>
              <a:t> (</a:t>
            </a:r>
            <a:r>
              <a:rPr lang="en-US" dirty="0" err="1">
                <a:ea typeface="Calibri"/>
                <a:cs typeface="Calibri"/>
              </a:rPr>
              <a:t>som</a:t>
            </a:r>
            <a:r>
              <a:rPr lang="en-US" dirty="0">
                <a:ea typeface="Calibri"/>
                <a:cs typeface="Calibri"/>
              </a:rPr>
              <a:t> var </a:t>
            </a:r>
            <a:r>
              <a:rPr lang="en-US" dirty="0" err="1">
                <a:ea typeface="Calibri"/>
                <a:cs typeface="Calibri"/>
              </a:rPr>
              <a:t>lige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underkanten</a:t>
            </a:r>
            <a:r>
              <a:rPr lang="en-US" dirty="0">
                <a:ea typeface="Calibri"/>
                <a:cs typeface="Calibri"/>
              </a:rPr>
              <a:t>) → 20 </a:t>
            </a:r>
            <a:r>
              <a:rPr lang="en-US" dirty="0" err="1">
                <a:ea typeface="Calibri"/>
                <a:cs typeface="Calibri"/>
              </a:rPr>
              <a:t>minutters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præsentation</a:t>
            </a:r>
            <a:endParaRPr lang="en-US" dirty="0"/>
          </a:p>
          <a:p>
            <a:pPr marL="341630" indent="-341630"/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Arial"/>
              </a:rPr>
              <a:t>Ambitionen</a:t>
            </a:r>
            <a:r>
              <a:rPr lang="en-US" dirty="0">
                <a:ea typeface="Calibri"/>
                <a:cs typeface="Arial"/>
              </a:rPr>
              <a:t> var (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det var ret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ambitiøst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...)</a:t>
            </a:r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indent="-341630"/>
            <a:r>
              <a:rPr lang="en-US" dirty="0">
                <a:ea typeface="+mn-lt"/>
                <a:cs typeface="+mn-lt"/>
              </a:rPr>
              <a:t>At </a:t>
            </a:r>
            <a:r>
              <a:rPr lang="en-US" dirty="0" err="1">
                <a:ea typeface="+mn-lt"/>
                <a:cs typeface="+mn-lt"/>
              </a:rPr>
              <a:t>lære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forstå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videreformidle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jeg</a:t>
            </a:r>
            <a:r>
              <a:rPr lang="en-US" dirty="0">
                <a:ea typeface="+mn-lt"/>
                <a:cs typeface="+mn-lt"/>
              </a:rPr>
              <a:t> har </a:t>
            </a:r>
            <a:r>
              <a:rPr lang="en-US" dirty="0" err="1">
                <a:ea typeface="+mn-lt"/>
                <a:cs typeface="+mn-lt"/>
              </a:rPr>
              <a:t>lært</a:t>
            </a:r>
            <a:endParaRPr lang="en-US" dirty="0">
              <a:ea typeface="Calibri"/>
            </a:endParaRPr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lade alt </a:t>
            </a:r>
            <a:r>
              <a:rPr lang="en-US" dirty="0" err="1">
                <a:ea typeface="+mn-lt"/>
                <a:cs typeface="+mn-lt"/>
              </a:rPr>
              <a:t>materiale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være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tilgængelig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</a:t>
            </a:r>
            <a:r>
              <a:rPr lang="en-US" dirty="0" err="1">
                <a:ea typeface="+mn-lt"/>
                <a:cs typeface="+mn-lt"/>
              </a:rPr>
              <a:t>komme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muligt</a:t>
            </a:r>
            <a:endParaRPr lang="en-US" dirty="0"/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have det </a:t>
            </a:r>
            <a:r>
              <a:rPr lang="en-US" dirty="0" err="1">
                <a:ea typeface="+mn-lt"/>
                <a:cs typeface="+mn-lt"/>
              </a:rPr>
              <a:t>sjovt</a:t>
            </a:r>
            <a:r>
              <a:rPr lang="en-US" dirty="0">
                <a:ea typeface="+mn-lt"/>
                <a:cs typeface="+mn-lt"/>
              </a:rPr>
              <a:t> 🎉</a:t>
            </a:r>
            <a:endParaRPr lang="en-US" dirty="0"/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35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4A3439-05F0-1C77-EC57-467B2AA49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GB" err="1">
                <a:latin typeface="Calibri"/>
                <a:ea typeface="Calibri"/>
                <a:cs typeface="Calibri"/>
              </a:rPr>
              <a:t>Første</a:t>
            </a:r>
            <a:r>
              <a:rPr lang="en-GB">
                <a:latin typeface="Calibri"/>
                <a:ea typeface="Calibri"/>
                <a:cs typeface="Calibri"/>
              </a:rPr>
              <a:t> aha-</a:t>
            </a:r>
            <a:r>
              <a:rPr lang="en-GB" err="1">
                <a:latin typeface="Calibri"/>
                <a:ea typeface="Calibri"/>
                <a:cs typeface="Calibri"/>
              </a:rPr>
              <a:t>oplevelse</a:t>
            </a:r>
            <a:r>
              <a:rPr lang="en-GB">
                <a:latin typeface="Calibri"/>
                <a:ea typeface="Calibri"/>
                <a:cs typeface="Calibri"/>
              </a:rPr>
              <a:t> (</a:t>
            </a:r>
            <a:r>
              <a:rPr lang="en-GB" err="1">
                <a:latin typeface="Calibri"/>
                <a:ea typeface="Calibri"/>
                <a:cs typeface="Calibri"/>
              </a:rPr>
              <a:t>Optimisme</a:t>
            </a:r>
            <a:r>
              <a:rPr lang="en-GB">
                <a:latin typeface="Calibri"/>
                <a:ea typeface="Calibri"/>
                <a:cs typeface="Calibri"/>
              </a:rPr>
              <a:t> -&gt; realisme)</a:t>
            </a:r>
            <a:endParaRPr lang="en-US"/>
          </a:p>
          <a:p>
            <a:endParaRPr lang="en-GB">
              <a:ea typeface="Calibri"/>
              <a:cs typeface="Calibri"/>
            </a:endParaRP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26E8365-DE1F-A167-5123-F4B83D38D5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848808"/>
            <a:ext cx="11103711" cy="4465069"/>
          </a:xfrm>
        </p:spPr>
        <p:txBody>
          <a:bodyPr/>
          <a:lstStyle/>
          <a:p>
            <a:pPr marL="341630" indent="-341630"/>
            <a:r>
              <a:rPr lang="en-GB" dirty="0">
                <a:ea typeface="+mn-lt"/>
                <a:cs typeface="+mn-lt"/>
              </a:rPr>
              <a:t>Steen: "Lad AI lave </a:t>
            </a:r>
            <a:r>
              <a:rPr lang="en-GB" dirty="0" err="1">
                <a:ea typeface="+mn-lt"/>
                <a:cs typeface="+mn-lt"/>
              </a:rPr>
              <a:t>en</a:t>
            </a:r>
            <a:r>
              <a:rPr lang="en-GB" dirty="0">
                <a:ea typeface="+mn-lt"/>
                <a:cs typeface="+mn-lt"/>
              </a:rPr>
              <a:t> PowerPoint-</a:t>
            </a:r>
            <a:r>
              <a:rPr lang="en-GB" dirty="0" err="1">
                <a:ea typeface="+mn-lt"/>
                <a:cs typeface="+mn-lt"/>
              </a:rPr>
              <a:t>præsentation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</a:t>
            </a:r>
            <a:r>
              <a:rPr lang="en-GB" dirty="0">
                <a:ea typeface="+mn-lt"/>
                <a:cs typeface="+mn-lt"/>
              </a:rPr>
              <a:t> SSI </a:t>
            </a:r>
            <a:r>
              <a:rPr lang="en-GB" dirty="0" err="1">
                <a:ea typeface="+mn-lt"/>
                <a:cs typeface="+mn-lt"/>
              </a:rPr>
              <a:t>skabelonen</a:t>
            </a:r>
            <a:r>
              <a:rPr lang="en-GB" dirty="0">
                <a:ea typeface="+mn-lt"/>
                <a:cs typeface="+mn-lt"/>
              </a:rPr>
              <a:t>..."</a:t>
            </a:r>
            <a:endParaRPr lang="en-US" dirty="0"/>
          </a:p>
          <a:p>
            <a:pPr marL="341630" indent="-341630"/>
            <a:r>
              <a:rPr lang="en-GB" dirty="0">
                <a:ea typeface="+mn-lt"/>
                <a:cs typeface="+mn-lt"/>
              </a:rPr>
              <a:t>2 timer </a:t>
            </a:r>
            <a:r>
              <a:rPr lang="en-GB" dirty="0" err="1">
                <a:ea typeface="+mn-lt"/>
                <a:cs typeface="+mn-lt"/>
              </a:rPr>
              <a:t>og</a:t>
            </a:r>
            <a:r>
              <a:rPr lang="en-GB" dirty="0">
                <a:ea typeface="+mn-lt"/>
                <a:cs typeface="+mn-lt"/>
              </a:rPr>
              <a:t> mange </a:t>
            </a:r>
            <a:r>
              <a:rPr lang="en-GB" dirty="0" err="1">
                <a:ea typeface="+mn-lt"/>
                <a:cs typeface="+mn-lt"/>
              </a:rPr>
              <a:t>forsøg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senere</a:t>
            </a:r>
            <a:r>
              <a:rPr lang="en-GB" dirty="0">
                <a:ea typeface="+mn-lt"/>
                <a:cs typeface="+mn-lt"/>
              </a:rPr>
              <a:t>: "</a:t>
            </a:r>
            <a:r>
              <a:rPr lang="en-GB" dirty="0" err="1">
                <a:ea typeface="+mn-lt"/>
                <a:cs typeface="+mn-lt"/>
              </a:rPr>
              <a:t>Nå</a:t>
            </a:r>
            <a:r>
              <a:rPr lang="en-GB" dirty="0">
                <a:ea typeface="+mn-lt"/>
                <a:cs typeface="+mn-lt"/>
              </a:rPr>
              <a:t>, </a:t>
            </a:r>
            <a:r>
              <a:rPr lang="en-GB" dirty="0" err="1">
                <a:ea typeface="+mn-lt"/>
                <a:cs typeface="+mn-lt"/>
              </a:rPr>
              <a:t>måske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er</a:t>
            </a:r>
            <a:r>
              <a:rPr lang="en-GB" dirty="0">
                <a:ea typeface="+mn-lt"/>
                <a:cs typeface="+mn-lt"/>
              </a:rPr>
              <a:t> AI </a:t>
            </a:r>
            <a:r>
              <a:rPr lang="en-GB" dirty="0" err="1">
                <a:ea typeface="+mn-lt"/>
                <a:cs typeface="+mn-lt"/>
              </a:rPr>
              <a:t>bedre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til</a:t>
            </a:r>
            <a:r>
              <a:rPr lang="en-GB" dirty="0">
                <a:ea typeface="+mn-lt"/>
                <a:cs typeface="+mn-lt"/>
              </a:rPr>
              <a:t> at </a:t>
            </a:r>
            <a:r>
              <a:rPr lang="en-GB" dirty="0" err="1">
                <a:ea typeface="+mn-lt"/>
                <a:cs typeface="+mn-lt"/>
              </a:rPr>
              <a:t>skrive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kode</a:t>
            </a:r>
            <a:r>
              <a:rPr lang="en-GB" dirty="0">
                <a:ea typeface="+mn-lt"/>
                <a:cs typeface="+mn-lt"/>
              </a:rPr>
              <a:t> end PowerPoint..."</a:t>
            </a:r>
            <a:endParaRPr lang="en-GB" dirty="0"/>
          </a:p>
          <a:p>
            <a:pPr marL="341630" indent="-341630"/>
            <a:endParaRPr lang="en-GB" dirty="0">
              <a:ea typeface="Calibri"/>
              <a:cs typeface="Arial"/>
            </a:endParaRPr>
          </a:p>
          <a:p>
            <a:pPr marL="341630" indent="-341630"/>
            <a:endParaRPr lang="en-GB" dirty="0">
              <a:ea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B8D8C-8853-90A0-FCDE-5830B4E03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3100388"/>
            <a:ext cx="1352550" cy="3209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CB495B-D9EA-CD41-8BC8-CE14FA518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925" y="3105150"/>
            <a:ext cx="1466850" cy="3209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9886B2-222D-FB51-49BE-D1E7939A8660}"/>
              </a:ext>
            </a:extLst>
          </p:cNvPr>
          <p:cNvSpPr txBox="1"/>
          <p:nvPr/>
        </p:nvSpPr>
        <p:spPr>
          <a:xfrm>
            <a:off x="2630465" y="3319397"/>
            <a:ext cx="578284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&lt;=    </a:t>
            </a:r>
            <a:r>
              <a:rPr lang="en-US" err="1">
                <a:ea typeface="Calibri"/>
                <a:cs typeface="Calibri"/>
              </a:rPr>
              <a:t>Skabelonen</a:t>
            </a:r>
            <a:r>
              <a:rPr lang="en-US">
                <a:ea typeface="Calibri"/>
                <a:cs typeface="Calibri"/>
              </a:rPr>
              <a:t> er </a:t>
            </a:r>
            <a:r>
              <a:rPr lang="en-US" err="1">
                <a:ea typeface="Calibri"/>
                <a:cs typeface="Calibri"/>
              </a:rPr>
              <a:t>ikke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rørt</a:t>
            </a:r>
            <a:r>
              <a:rPr lang="en-US">
                <a:ea typeface="Calibri"/>
                <a:cs typeface="Calibri"/>
              </a:rPr>
              <a:t>, men </a:t>
            </a:r>
            <a:r>
              <a:rPr lang="en-US" err="1">
                <a:ea typeface="Calibri"/>
                <a:cs typeface="Calibri"/>
              </a:rPr>
              <a:t>til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gengæld</a:t>
            </a:r>
            <a:r>
              <a:rPr lang="en-US">
                <a:ea typeface="Calibri"/>
                <a:cs typeface="Calibri"/>
              </a:rPr>
              <a:t> er der </a:t>
            </a:r>
            <a:r>
              <a:rPr lang="en-US" err="1">
                <a:ea typeface="Calibri"/>
                <a:cs typeface="Calibri"/>
              </a:rPr>
              <a:t>tilføjet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en</a:t>
            </a:r>
            <a:r>
              <a:rPr lang="en-US">
                <a:ea typeface="Calibri"/>
                <a:cs typeface="Calibri"/>
              </a:rPr>
              <a:t> masse slides der </a:t>
            </a:r>
            <a:r>
              <a:rPr lang="en-US" err="1">
                <a:ea typeface="Calibri"/>
                <a:cs typeface="Calibri"/>
              </a:rPr>
              <a:t>ikke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følger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skabelonen</a:t>
            </a:r>
            <a:r>
              <a:rPr lang="en-US">
                <a:ea typeface="Calibri"/>
                <a:cs typeface="Calibri"/>
              </a:rPr>
              <a:t>.   =&gt;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94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07B8-31A9-8191-2CEA-180143E78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Hvad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latin typeface="Calibri"/>
                <a:ea typeface="Calibri"/>
                <a:cs typeface="Calibri"/>
              </a:rPr>
              <a:t> AI-</a:t>
            </a:r>
            <a:r>
              <a:rPr lang="en-US" dirty="0" err="1">
                <a:latin typeface="Calibri"/>
                <a:ea typeface="Calibri"/>
                <a:cs typeface="Calibri"/>
              </a:rPr>
              <a:t>assisteret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udvikling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latin typeface="Calibri"/>
                <a:ea typeface="Calibri"/>
                <a:cs typeface="Calibri"/>
              </a:rPr>
              <a:t> “Vibe Coding”?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7AD1F-6B04-786A-D6BC-23E20B97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74" y="1931402"/>
            <a:ext cx="11103711" cy="4392000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AI-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assisteret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udvikling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: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manuel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prompt-workflow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udenfor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IDE’et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(den "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almindelige"prompt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)</a:t>
            </a: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Vibe Coding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et ret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nyt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udtryk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(2025),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blev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opfundet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"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co-founder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OpenAI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firmaet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bag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ChatGPT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) </a:t>
            </a:r>
          </a:p>
          <a:p>
            <a:pPr marL="341630" indent="-341630"/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Konceptet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at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du -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ikke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nødvendigvis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forstår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alt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noget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overhovedet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 dirty="0">
              <a:ea typeface="Calibri"/>
            </a:endParaRP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Vibe coding: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makker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IDE’et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*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autofuldførelse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chat,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kodeforslag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>
              <a:ea typeface="Calibri"/>
            </a:endParaRP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* IDE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Intergrated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Development Environment (et program man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5074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1B6F-CB38-E7C7-B1F1-3CF81E118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Hvordan</a:t>
            </a:r>
            <a:r>
              <a:rPr lang="en-US">
                <a:ea typeface="Calibri"/>
                <a:cs typeface="Calibri"/>
              </a:rPr>
              <a:t> ser AI-</a:t>
            </a:r>
            <a:r>
              <a:rPr lang="en-US" err="1">
                <a:ea typeface="Calibri"/>
                <a:cs typeface="Calibri"/>
              </a:rPr>
              <a:t>assiteret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udvikling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ud</a:t>
            </a:r>
            <a:r>
              <a:rPr lang="en-US">
                <a:ea typeface="Calibri"/>
                <a:cs typeface="Calibri"/>
              </a:rPr>
              <a:t>?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8CEB831-9C17-8313-650C-732FE82D3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1755" y="1586596"/>
            <a:ext cx="8582025" cy="471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72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62B92-B5F3-81AA-00EE-5E4C6548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Hvordan</a:t>
            </a:r>
            <a:r>
              <a:rPr lang="en-US">
                <a:latin typeface="Calibri"/>
                <a:ea typeface="Calibri"/>
                <a:cs typeface="Calibri"/>
              </a:rPr>
              <a:t> ser Vibe Coding ud?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C32C97-8212-212E-385B-702D9101A2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973" y="1584552"/>
            <a:ext cx="8569889" cy="4964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28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91FA9-9A30-3961-1157-32B3F8506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– 3D scene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04EA4-3F74-DA7C-4BD6-1C56629C9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Living Atlas,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timeslider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3D</a:t>
            </a:r>
            <a:endParaRPr lang="en-US" dirty="0"/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+mn-lt"/>
              <a:cs typeface="+mn-lt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Promptede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generering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3D scene. Data </a:t>
            </a:r>
            <a:r>
              <a:rPr lang="en-US" dirty="0" err="1">
                <a:ea typeface="+mn-lt"/>
                <a:cs typeface="+mn-lt"/>
              </a:rPr>
              <a:t>generering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fungerede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rimeligt</a:t>
            </a:r>
            <a:r>
              <a:rPr lang="en-US" dirty="0">
                <a:ea typeface="+mn-lt"/>
                <a:cs typeface="+mn-lt"/>
              </a:rPr>
              <a:t> (med et par </a:t>
            </a:r>
            <a:r>
              <a:rPr lang="en-US" dirty="0" err="1">
                <a:ea typeface="+mn-lt"/>
                <a:cs typeface="+mn-lt"/>
              </a:rPr>
              <a:t>hickups</a:t>
            </a:r>
            <a:r>
              <a:rPr lang="en-US" dirty="0">
                <a:ea typeface="+mn-lt"/>
                <a:cs typeface="+mn-lt"/>
              </a:rPr>
              <a:t>)</a:t>
            </a: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Svært</a:t>
            </a:r>
            <a:r>
              <a:rPr lang="en-US" dirty="0">
                <a:ea typeface="+mn-lt"/>
                <a:cs typeface="+mn-lt"/>
              </a:rPr>
              <a:t> at lave </a:t>
            </a:r>
            <a:r>
              <a:rPr lang="en-US" dirty="0" err="1">
                <a:ea typeface="+mn-lt"/>
                <a:cs typeface="+mn-lt"/>
              </a:rPr>
              <a:t>udviklingen</a:t>
            </a:r>
            <a:r>
              <a:rPr lang="en-US" dirty="0">
                <a:ea typeface="+mn-lt"/>
                <a:cs typeface="+mn-lt"/>
              </a:rPr>
              <a:t> med vibe coding - der </a:t>
            </a:r>
            <a:r>
              <a:rPr lang="en-US" dirty="0" err="1">
                <a:ea typeface="+mn-lt"/>
                <a:cs typeface="+mn-lt"/>
              </a:rPr>
              <a:t>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brug</a:t>
            </a:r>
            <a:r>
              <a:rPr lang="en-US" dirty="0">
                <a:ea typeface="+mn-lt"/>
                <a:cs typeface="+mn-lt"/>
              </a:rPr>
              <a:t> for at </a:t>
            </a:r>
            <a:r>
              <a:rPr lang="en-US" dirty="0" err="1">
                <a:ea typeface="+mn-lt"/>
                <a:cs typeface="+mn-lt"/>
              </a:rPr>
              <a:t>klikke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rundt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ArcGIS online</a:t>
            </a: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Resultatet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blev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ganske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godt</a:t>
            </a:r>
            <a:r>
              <a:rPr lang="en-US" dirty="0">
                <a:ea typeface="+mn-lt"/>
                <a:cs typeface="+mn-lt"/>
              </a:rPr>
              <a:t>, men AI "</a:t>
            </a:r>
            <a:r>
              <a:rPr lang="en-US" dirty="0" err="1">
                <a:ea typeface="+mn-lt"/>
                <a:cs typeface="+mn-lt"/>
              </a:rPr>
              <a:t>forstår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helt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der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for at </a:t>
            </a:r>
            <a:r>
              <a:rPr lang="en-US" dirty="0" err="1">
                <a:ea typeface="+mn-lt"/>
                <a:cs typeface="+mn-lt"/>
              </a:rPr>
              <a:t>få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tingene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</a:t>
            </a:r>
            <a:r>
              <a:rPr lang="en-US" dirty="0" err="1">
                <a:ea typeface="+mn-lt"/>
                <a:cs typeface="+mn-lt"/>
              </a:rPr>
              <a:t>fungere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ArcGIS online</a:t>
            </a:r>
            <a:endParaRPr lang="en-US" dirty="0">
              <a:ea typeface="Calibri"/>
              <a:cs typeface="Arial" panose="020B0604020202020204" pitchFamily="34" charset="0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4606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665B3-CE2B-7F24-183B-76A9F71E2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FB729A4-B7BE-A48E-58A5-C4789A378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2655" y="1442150"/>
            <a:ext cx="9801225" cy="520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62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06E7-55B3-4B20-86FB-C444F19F9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Hvad</a:t>
            </a:r>
            <a:r>
              <a:rPr lang="en-US" dirty="0"/>
              <a:t> der skete </a:t>
            </a:r>
            <a:r>
              <a:rPr lang="en-US" dirty="0" err="1"/>
              <a:t>til</a:t>
            </a:r>
            <a:r>
              <a:rPr lang="en-US" dirty="0"/>
              <a:t> </a:t>
            </a:r>
            <a:r>
              <a:rPr lang="en-US" dirty="0" err="1"/>
              <a:t>Kortdage</a:t>
            </a:r>
            <a:r>
              <a:rPr lang="en-US" dirty="0"/>
              <a:t>… 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0DD27-21DC-43D0-AA0B-145B6742C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Dette </a:t>
            </a:r>
            <a:r>
              <a:rPr lang="en-US" dirty="0" err="1"/>
              <a:t>oplæg</a:t>
            </a:r>
            <a:r>
              <a:rPr lang="en-US" dirty="0"/>
              <a:t> var </a:t>
            </a:r>
            <a:r>
              <a:rPr lang="en-US" dirty="0" err="1"/>
              <a:t>oprindelig</a:t>
            </a:r>
            <a:r>
              <a:rPr lang="en-US" dirty="0"/>
              <a:t> test </a:t>
            </a:r>
            <a:r>
              <a:rPr lang="en-US" dirty="0" err="1"/>
              <a:t>af</a:t>
            </a:r>
            <a:r>
              <a:rPr lang="en-US" dirty="0"/>
              <a:t>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teknologier</a:t>
            </a:r>
            <a:endParaRPr lang="en-US" dirty="0"/>
          </a:p>
          <a:p>
            <a:r>
              <a:rPr lang="en-US" dirty="0"/>
              <a:t>Men… Nu er det jo </a:t>
            </a:r>
            <a:r>
              <a:rPr lang="en-US" dirty="0" err="1"/>
              <a:t>en</a:t>
            </a:r>
            <a:r>
              <a:rPr lang="en-US" dirty="0"/>
              <a:t> Esri </a:t>
            </a:r>
            <a:r>
              <a:rPr lang="en-US" dirty="0" err="1"/>
              <a:t>konference</a:t>
            </a:r>
            <a:endParaRPr lang="en-US" dirty="0"/>
          </a:p>
          <a:p>
            <a:r>
              <a:rPr lang="en-US" dirty="0"/>
              <a:t>Skift </a:t>
            </a:r>
            <a:r>
              <a:rPr lang="en-US" dirty="0" err="1"/>
              <a:t>mellem</a:t>
            </a:r>
            <a:r>
              <a:rPr lang="en-US" dirty="0"/>
              <a:t> </a:t>
            </a:r>
            <a:r>
              <a:rPr lang="en-US" dirty="0" err="1"/>
              <a:t>teknologier</a:t>
            </a:r>
            <a:r>
              <a:rPr lang="en-US" dirty="0"/>
              <a:t> </a:t>
            </a:r>
            <a:r>
              <a:rPr lang="en-US" dirty="0" err="1"/>
              <a:t>har</a:t>
            </a:r>
            <a:r>
              <a:rPr lang="en-US" dirty="0"/>
              <a:t> dog </a:t>
            </a:r>
            <a:r>
              <a:rPr lang="en-US" dirty="0" err="1"/>
              <a:t>aldrig</a:t>
            </a:r>
            <a:r>
              <a:rPr lang="en-US" dirty="0"/>
              <a:t> </a:t>
            </a:r>
            <a:r>
              <a:rPr lang="en-US" dirty="0" err="1"/>
              <a:t>været</a:t>
            </a:r>
            <a:r>
              <a:rPr lang="en-US" dirty="0"/>
              <a:t> </a:t>
            </a:r>
            <a:r>
              <a:rPr lang="en-US" dirty="0" err="1"/>
              <a:t>lettere</a:t>
            </a:r>
            <a:r>
              <a:rPr lang="en-US" dirty="0"/>
              <a:t> -&gt; </a:t>
            </a:r>
            <a:r>
              <a:rPr lang="en-US" dirty="0" err="1"/>
              <a:t>streamlit</a:t>
            </a:r>
            <a:r>
              <a:rPr lang="en-US" dirty="0"/>
              <a:t> =&gt; ArcGIS dashboard </a:t>
            </a:r>
          </a:p>
          <a:p>
            <a:endParaRPr lang="da-DK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436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525A2-D1B0-435B-9E43-E9E814303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53357"/>
            <a:ext cx="9290274" cy="1066161"/>
          </a:xfrm>
        </p:spPr>
        <p:txBody>
          <a:bodyPr>
            <a:normAutofit/>
          </a:bodyPr>
          <a:lstStyle/>
          <a:p>
            <a:r>
              <a:rPr lang="en-US" dirty="0" err="1"/>
              <a:t>LLM’er</a:t>
            </a:r>
            <a:r>
              <a:rPr lang="en-US" dirty="0"/>
              <a:t> er (</a:t>
            </a:r>
            <a:r>
              <a:rPr lang="en-US" dirty="0" err="1"/>
              <a:t>allerede</a:t>
            </a:r>
            <a:r>
              <a:rPr lang="en-US" dirty="0"/>
              <a:t>) </a:t>
            </a:r>
            <a:r>
              <a:rPr lang="en-US" dirty="0" err="1"/>
              <a:t>blevet</a:t>
            </a:r>
            <a:r>
              <a:rPr lang="en-US" dirty="0"/>
              <a:t> </a:t>
            </a:r>
            <a:r>
              <a:rPr lang="en-US" dirty="0" err="1"/>
              <a:t>vildt</a:t>
            </a:r>
            <a:r>
              <a:rPr lang="en-US" dirty="0"/>
              <a:t> </a:t>
            </a:r>
            <a:r>
              <a:rPr lang="en-US" dirty="0" err="1"/>
              <a:t>gode</a:t>
            </a:r>
            <a:r>
              <a:rPr lang="en-US" dirty="0"/>
              <a:t>!!</a:t>
            </a:r>
            <a:br>
              <a:rPr lang="en-US" dirty="0"/>
            </a:br>
            <a:r>
              <a:rPr lang="en-US" dirty="0"/>
              <a:t>Min prompt: “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virker</a:t>
            </a:r>
            <a:r>
              <a:rPr lang="en-US" dirty="0"/>
              <a:t>. </a:t>
            </a:r>
            <a:r>
              <a:rPr lang="en-US" dirty="0" err="1"/>
              <a:t>Indikator</a:t>
            </a:r>
            <a:r>
              <a:rPr lang="en-US" dirty="0"/>
              <a:t> </a:t>
            </a:r>
            <a:r>
              <a:rPr lang="en-US" dirty="0" err="1"/>
              <a:t>gør</a:t>
            </a:r>
            <a:r>
              <a:rPr lang="en-US" dirty="0"/>
              <a:t> </a:t>
            </a:r>
            <a:r>
              <a:rPr lang="en-US" dirty="0" err="1"/>
              <a:t>ikke</a:t>
            </a:r>
            <a:r>
              <a:rPr lang="en-US" dirty="0"/>
              <a:t>.” +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9B6DD7-A3E3-45E1-AE06-C18F871333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0000" y="1801440"/>
            <a:ext cx="8663249" cy="4391025"/>
          </a:xfrm>
        </p:spPr>
      </p:pic>
    </p:spTree>
    <p:extLst>
      <p:ext uri="{BB962C8B-B14F-4D97-AF65-F5344CB8AC3E}">
        <p14:creationId xmlns:p14="http://schemas.microsoft.com/office/powerpoint/2010/main" val="3827438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E4A5C-D7D6-4545-B5FD-2BAC2CE5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74141"/>
            <a:ext cx="9290274" cy="504000"/>
          </a:xfrm>
        </p:spPr>
        <p:txBody>
          <a:bodyPr/>
          <a:lstStyle/>
          <a:p>
            <a:r>
              <a:rPr lang="en-US" dirty="0" err="1"/>
              <a:t>Lav</a:t>
            </a:r>
            <a:r>
              <a:rPr lang="en-US" dirty="0"/>
              <a:t> et dashboard!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A82C15-19B2-4C85-96C2-1AE4489FCB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0000" y="1435193"/>
            <a:ext cx="9773019" cy="4696666"/>
          </a:xfrm>
        </p:spPr>
      </p:pic>
    </p:spTree>
    <p:extLst>
      <p:ext uri="{BB962C8B-B14F-4D97-AF65-F5344CB8AC3E}">
        <p14:creationId xmlns:p14="http://schemas.microsoft.com/office/powerpoint/2010/main" val="39458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6E62-10FD-1B2F-4BC2-DE7F1A0F4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Teknologierne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vurderet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forhold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med AI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4FE203-022C-40C5-95BE-F9EF64F2C8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2168532"/>
              </p:ext>
            </p:extLst>
          </p:nvPr>
        </p:nvGraphicFramePr>
        <p:xfrm>
          <a:off x="385481" y="1289720"/>
          <a:ext cx="11438220" cy="4278560"/>
        </p:xfrm>
        <a:graphic>
          <a:graphicData uri="http://schemas.openxmlformats.org/drawingml/2006/table">
            <a:tbl>
              <a:tblPr/>
              <a:tblGrid>
                <a:gridCol w="1906370">
                  <a:extLst>
                    <a:ext uri="{9D8B030D-6E8A-4147-A177-3AD203B41FA5}">
                      <a16:colId xmlns:a16="http://schemas.microsoft.com/office/drawing/2014/main" val="1791050672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2777721888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3011163199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3428251616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3509201111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4289391201"/>
                    </a:ext>
                  </a:extLst>
                </a:gridCol>
              </a:tblGrid>
              <a:tr h="3687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Parameter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 dirty="0" err="1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Shiny</a:t>
                      </a:r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da-DK" sz="1100" b="1" i="0" u="none" strike="noStrike" dirty="0" err="1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Shinylive</a:t>
                      </a:r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/</a:t>
                      </a:r>
                      <a:r>
                        <a:rPr lang="da-DK" sz="1100" b="1" i="0" u="none" strike="noStrike" dirty="0" err="1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ShinyApps</a:t>
                      </a:r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)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Dash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Streamlit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ArcGIS Scene / 3D Viewer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Power BI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2403612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Opsætning af udviklingsmiljø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Hurtig at komme igang, fx med VSCode med shiny extension</a:t>
                      </a:r>
                    </a:p>
                  </a:txBody>
                  <a:tcPr marL="9131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Hurtig at komme igang med fx VSCode med shiny extension</a:t>
                      </a:r>
                    </a:p>
                  </a:txBody>
                  <a:tcPr marL="9131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Meget nemt at starte, fx med GitHub Codespaces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Nemt at sætte ArcGIS API for op, men ArcGIS online eller lignende kræves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Fungere bedst/kun i Power BI desktop eller web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670673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AI-assistance af datapipeline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god hjælp, men udfordret med geodata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god hjælp, men udfordret med geodata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god hjælp - også et landegeokodning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rimelig hjælp - kan godt ArcGIS geodata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Klargøring af data 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239789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AI-assistance af app-udvikling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 implementering, men med nogen fejlrettelser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 implementering, men med nogen fejlrettelser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Implementerede fuldt funktionelt dashboard hurtig med få fejlrettelser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Nemt at sætte ArcGIS API for op, men ArcGIS online eller lignende kræves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Fungerede ikke godt, AI bliver "forvirret" over forskellige version med ny brugerflade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427720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Hosting - deployment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ShinyApps er nem at sætte op.</a:t>
                      </a:r>
                      <a:b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Shinylive (statisk site) er rigtig god til datamængder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Hosting er lidt mere krævende end med Shiny, men dog rimelig nemt med fx Render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Streamlit.app er meget simpel. </a:t>
                      </a:r>
                      <a:b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Stlite (statisk site) virker godt til mindre datamængder.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Nem hosting, men kræver licens (fx ArcGIS online)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Kræver Power BI Service/Premium og licenser og opsætning, der tillader hosting til externe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055496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Slutbruger-oplevelsen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simpelt, men ganske flot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simpelt, men ganske flot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simpelt, men ganske flot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Jeg elsker 3D! &lt;3 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 lykkedes ikke at lave et færdigt </a:t>
                      </a:r>
                      <a:r>
                        <a:rPr lang="da-DK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dashboard</a:t>
                      </a:r>
                      <a:endParaRPr lang="da-DK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12597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9A53AF-9AD5-4B84-B2E8-A660E90053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233202"/>
              </p:ext>
            </p:extLst>
          </p:nvPr>
        </p:nvGraphicFramePr>
        <p:xfrm>
          <a:off x="385481" y="5642643"/>
          <a:ext cx="1891554" cy="762000"/>
        </p:xfrm>
        <a:graphic>
          <a:graphicData uri="http://schemas.openxmlformats.org/drawingml/2006/table">
            <a:tbl>
              <a:tblPr/>
              <a:tblGrid>
                <a:gridCol w="1891554">
                  <a:extLst>
                    <a:ext uri="{9D8B030D-6E8A-4147-A177-3AD203B41FA5}">
                      <a16:colId xmlns:a16="http://schemas.microsoft.com/office/drawing/2014/main" val="303293173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fremragende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2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god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34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middel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3062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beskeden/mangelfuld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27512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5811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1A6AD-A9BC-0936-D45C-7D48B9E5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er AI </a:t>
            </a:r>
            <a:r>
              <a:rPr lang="en-US" dirty="0" err="1">
                <a:ea typeface="+mn-lt"/>
                <a:cs typeface="+mn-lt"/>
              </a:rPr>
              <a:t>særligt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velegnet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FCA0F-72D9-4DD4-BE8F-C167B2C45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Lyn-</a:t>
            </a:r>
            <a:r>
              <a:rPr lang="en-US" dirty="0" err="1">
                <a:ea typeface="+mn-lt"/>
                <a:cs typeface="+mn-lt"/>
              </a:rPr>
              <a:t>prototyper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idé-afprøvning</a:t>
            </a:r>
            <a:endParaRPr lang="en-US" dirty="0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>
                <a:ea typeface="+mn-lt"/>
                <a:cs typeface="+mn-lt"/>
              </a:rPr>
              <a:t>Review/</a:t>
            </a:r>
            <a:r>
              <a:rPr lang="en-US" err="1">
                <a:ea typeface="+mn-lt"/>
                <a:cs typeface="+mn-lt"/>
              </a:rPr>
              <a:t>korrektur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dokumentation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err="1">
                <a:ea typeface="+mn-lt"/>
                <a:cs typeface="+mn-lt"/>
              </a:rPr>
              <a:t>Teknologier</a:t>
            </a:r>
            <a:r>
              <a:rPr lang="en-US">
                <a:ea typeface="+mn-lt"/>
                <a:cs typeface="+mn-lt"/>
              </a:rPr>
              <a:t> med </a:t>
            </a:r>
            <a:r>
              <a:rPr lang="en-US" err="1">
                <a:ea typeface="+mn-lt"/>
                <a:cs typeface="+mn-lt"/>
              </a:rPr>
              <a:t>stor</a:t>
            </a:r>
            <a:r>
              <a:rPr lang="en-US">
                <a:ea typeface="+mn-lt"/>
                <a:cs typeface="+mn-lt"/>
              </a:rPr>
              <a:t> community-</a:t>
            </a:r>
            <a:r>
              <a:rPr lang="en-US" err="1">
                <a:ea typeface="+mn-lt"/>
                <a:cs typeface="+mn-lt"/>
              </a:rPr>
              <a:t>hjælp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Workflows, der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scriptes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automatiseres</a:t>
            </a:r>
            <a:endParaRPr lang="en-US" dirty="0" err="1">
              <a:ea typeface="Calibri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4482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A59E6-2A80-C173-A702-A735B5F28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Overvejelser</a:t>
            </a:r>
            <a:r>
              <a:rPr lang="en-US">
                <a:latin typeface="Calibri"/>
                <a:ea typeface="Calibri"/>
                <a:cs typeface="Calibri"/>
              </a:rPr>
              <a:t> om </a:t>
            </a:r>
            <a:r>
              <a:rPr lang="en-US" err="1">
                <a:latin typeface="Calibri"/>
                <a:ea typeface="Calibri"/>
                <a:cs typeface="Calibri"/>
              </a:rPr>
              <a:t>sikkerhed</a:t>
            </a:r>
            <a:endParaRPr lang="en-US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7CE40-B231-3BF6-7999-543EEEA5C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+mn-lt"/>
                <a:cs typeface="+mn-lt"/>
              </a:rPr>
              <a:t>Må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bruge</a:t>
            </a:r>
            <a:r>
              <a:rPr lang="en-US" dirty="0">
                <a:ea typeface="+mn-lt"/>
                <a:cs typeface="+mn-lt"/>
              </a:rPr>
              <a:t> AI </a:t>
            </a:r>
            <a:r>
              <a:rPr lang="en-US" dirty="0" err="1">
                <a:ea typeface="+mn-lt"/>
                <a:cs typeface="+mn-lt"/>
              </a:rPr>
              <a:t>på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arbejdet</a:t>
            </a:r>
            <a:r>
              <a:rPr lang="en-US" dirty="0">
                <a:ea typeface="+mn-lt"/>
                <a:cs typeface="+mn-lt"/>
              </a:rPr>
              <a:t>?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politikkerne</a:t>
            </a:r>
            <a:r>
              <a:rPr lang="en-US" dirty="0">
                <a:ea typeface="+mn-lt"/>
                <a:cs typeface="+mn-lt"/>
              </a:rPr>
              <a:t>?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Vibe coding vs. AI-</a:t>
            </a:r>
            <a:r>
              <a:rPr lang="en-US" dirty="0" err="1">
                <a:ea typeface="+mn-lt"/>
                <a:cs typeface="+mn-lt"/>
              </a:rPr>
              <a:t>assisteret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ift</a:t>
            </a:r>
            <a:r>
              <a:rPr lang="en-US" dirty="0">
                <a:ea typeface="+mn-lt"/>
                <a:cs typeface="+mn-lt"/>
              </a:rPr>
              <a:t>. compliance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logging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+mn-lt"/>
                <a:cs typeface="+mn-lt"/>
              </a:rPr>
              <a:t>Datafølsomhed</a:t>
            </a:r>
            <a:r>
              <a:rPr lang="en-US" dirty="0">
                <a:ea typeface="+mn-lt"/>
                <a:cs typeface="+mn-lt"/>
              </a:rPr>
              <a:t> </a:t>
            </a:r>
            <a:endParaRPr lang="en-US" dirty="0"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Mit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råd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: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aldrig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persondata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kunstig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offentlig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tilgængeligt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Hvis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for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rigtig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så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tilføj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manuelt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når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løsningen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skal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drift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31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EFFC-ABD3-65DF-F3EA-D9B74FF7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Tips </a:t>
            </a:r>
            <a:r>
              <a:rPr lang="en-US" dirty="0" err="1"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latin typeface="Calibri"/>
                <a:ea typeface="Calibri"/>
                <a:cs typeface="Calibri"/>
              </a:rPr>
              <a:t> at </a:t>
            </a:r>
            <a:r>
              <a:rPr lang="en-US" dirty="0" err="1">
                <a:latin typeface="Calibri"/>
                <a:ea typeface="Calibri"/>
                <a:cs typeface="Calibri"/>
              </a:rPr>
              <a:t>bruge</a:t>
            </a:r>
            <a:r>
              <a:rPr lang="en-US" dirty="0"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latin typeface="Calibri"/>
                <a:ea typeface="Calibri"/>
                <a:cs typeface="Calibri"/>
              </a:rPr>
              <a:t>effektivt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6E8C7-9A5A-94D4-C2A9-2F287A85C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255127"/>
            <a:ext cx="11103711" cy="5058750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>
                <a:ea typeface="+mn-lt"/>
                <a:cs typeface="+mn-lt"/>
              </a:rPr>
              <a:t>Prompting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Bed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stille</a:t>
            </a:r>
            <a:r>
              <a:rPr lang="en-US" dirty="0">
                <a:ea typeface="+mn-lt"/>
                <a:cs typeface="+mn-lt"/>
              </a:rPr>
              <a:t> dig </a:t>
            </a:r>
            <a:r>
              <a:rPr lang="en-US" dirty="0" err="1">
                <a:ea typeface="+mn-lt"/>
                <a:cs typeface="+mn-lt"/>
              </a:rPr>
              <a:t>spørgsmål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før</a:t>
            </a:r>
            <a:r>
              <a:rPr lang="en-US" dirty="0">
                <a:ea typeface="+mn-lt"/>
                <a:cs typeface="+mn-lt"/>
              </a:rPr>
              <a:t> den </a:t>
            </a:r>
            <a:r>
              <a:rPr lang="en-US" dirty="0" err="1">
                <a:ea typeface="+mn-lt"/>
                <a:cs typeface="+mn-lt"/>
              </a:rPr>
              <a:t>forelår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løsningen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Bed om </a:t>
            </a:r>
            <a:r>
              <a:rPr lang="en-US" dirty="0" err="1">
                <a:ea typeface="+mn-lt"/>
                <a:cs typeface="+mn-lt"/>
              </a:rPr>
              <a:t>flere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løsninger</a:t>
            </a:r>
            <a:r>
              <a:rPr lang="en-US" dirty="0">
                <a:ea typeface="+mn-lt"/>
                <a:cs typeface="+mn-lt"/>
              </a:rPr>
              <a:t> med for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imod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/>
              <a:t>Bed </a:t>
            </a:r>
            <a:r>
              <a:rPr lang="en-US" dirty="0" err="1"/>
              <a:t>AI’en</a:t>
            </a:r>
            <a:r>
              <a:rPr lang="en-US" dirty="0"/>
              <a:t> </a:t>
            </a:r>
            <a:r>
              <a:rPr lang="en-US" dirty="0" err="1"/>
              <a:t>fortælle</a:t>
            </a:r>
            <a:r>
              <a:rPr lang="en-US" dirty="0"/>
              <a:t>, </a:t>
            </a:r>
            <a:r>
              <a:rPr lang="en-US" dirty="0" err="1"/>
              <a:t>hvad</a:t>
            </a:r>
            <a:r>
              <a:rPr lang="en-US" dirty="0"/>
              <a:t> den finder </a:t>
            </a:r>
            <a:r>
              <a:rPr lang="en-US" dirty="0" err="1"/>
              <a:t>ud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med </a:t>
            </a:r>
            <a:r>
              <a:rPr lang="en-US" dirty="0" err="1"/>
              <a:t>søgning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</a:t>
            </a:r>
            <a:r>
              <a:rPr lang="en-US" dirty="0" err="1"/>
              <a:t>nettet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hvad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hvorfor</a:t>
            </a:r>
            <a:r>
              <a:rPr lang="en-US" dirty="0"/>
              <a:t> den </a:t>
            </a:r>
            <a:r>
              <a:rPr lang="en-US" dirty="0" err="1"/>
              <a:t>ræsonnerer</a:t>
            </a:r>
            <a:r>
              <a:rPr lang="en-US" dirty="0"/>
              <a:t> sig </a:t>
            </a:r>
            <a:r>
              <a:rPr lang="en-US" dirty="0" err="1"/>
              <a:t>frem</a:t>
            </a:r>
            <a:r>
              <a:rPr lang="en-US" dirty="0"/>
              <a:t> </a:t>
            </a:r>
            <a:r>
              <a:rPr lang="en-US" dirty="0" err="1"/>
              <a:t>til</a:t>
            </a:r>
            <a:r>
              <a:rPr lang="en-US" dirty="0"/>
              <a:t>.</a:t>
            </a:r>
            <a:endParaRPr lang="en-US" dirty="0">
              <a:ea typeface="+mn-lt"/>
              <a:cs typeface="+mn-lt"/>
            </a:endParaRPr>
          </a:p>
          <a:p>
            <a:pPr marL="683630" lvl="1" indent="-341630"/>
            <a:endParaRPr lang="en-US" dirty="0">
              <a:ea typeface="+mn-lt"/>
              <a:cs typeface="+mn-lt"/>
            </a:endParaRPr>
          </a:p>
          <a:p>
            <a:pPr marL="341630" indent="-341630"/>
            <a:r>
              <a:rPr lang="en-US" dirty="0">
                <a:ea typeface="+mn-lt"/>
                <a:cs typeface="+mn-lt"/>
              </a:rPr>
              <a:t>Vibe Coding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Når</a:t>
            </a:r>
            <a:r>
              <a:rPr lang="en-US" dirty="0">
                <a:ea typeface="+mn-lt"/>
                <a:cs typeface="+mn-lt"/>
              </a:rPr>
              <a:t> du vibe coder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</a:t>
            </a:r>
            <a:r>
              <a:rPr lang="en-US" dirty="0">
                <a:ea typeface="+mn-lt"/>
                <a:cs typeface="+mn-lt"/>
              </a:rPr>
              <a:t>: prompt AI med </a:t>
            </a:r>
            <a:r>
              <a:rPr lang="en-US" dirty="0" err="1">
                <a:ea typeface="+mn-lt"/>
                <a:cs typeface="+mn-lt"/>
              </a:rPr>
              <a:t>fejlen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kontekst</a:t>
            </a:r>
            <a:r>
              <a:rPr lang="en-US" dirty="0">
                <a:ea typeface="+mn-lt"/>
                <a:cs typeface="+mn-lt"/>
              </a:rPr>
              <a:t> (log,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forventer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rent </a:t>
            </a:r>
            <a:r>
              <a:rPr lang="en-US" dirty="0" err="1">
                <a:ea typeface="+mn-lt"/>
                <a:cs typeface="+mn-lt"/>
              </a:rPr>
              <a:t>faktisk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fik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bed den </a:t>
            </a:r>
            <a:r>
              <a:rPr lang="en-US" dirty="0" err="1">
                <a:ea typeface="+mn-lt"/>
                <a:cs typeface="+mn-lt"/>
              </a:rPr>
              <a:t>rette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fejlen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Hvis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ved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selv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Hav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noget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arbejde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lave, </a:t>
            </a:r>
            <a:r>
              <a:rPr lang="en-US" dirty="0" err="1">
                <a:ea typeface="+mn-lt"/>
                <a:cs typeface="+mn-lt"/>
              </a:rPr>
              <a:t>mens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AI'en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tænker</a:t>
            </a:r>
            <a:r>
              <a:rPr lang="en-US" dirty="0">
                <a:ea typeface="+mn-lt"/>
                <a:cs typeface="+mn-lt"/>
              </a:rPr>
              <a:t>". </a:t>
            </a:r>
            <a:r>
              <a:rPr lang="en-US" dirty="0" err="1">
                <a:ea typeface="+mn-lt"/>
                <a:cs typeface="+mn-lt"/>
              </a:rPr>
              <a:t>Nogle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opgaver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Log dine prompts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fil.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Lav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agents.md (</a:t>
            </a:r>
            <a:r>
              <a:rPr lang="en-US" dirty="0" err="1">
                <a:ea typeface="+mn-lt"/>
                <a:cs typeface="+mn-lt"/>
              </a:rPr>
              <a:t>instruksfil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hjælp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AI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lave den.</a:t>
            </a:r>
          </a:p>
        </p:txBody>
      </p:sp>
    </p:spTree>
    <p:extLst>
      <p:ext uri="{BB962C8B-B14F-4D97-AF65-F5344CB8AC3E}">
        <p14:creationId xmlns:p14="http://schemas.microsoft.com/office/powerpoint/2010/main" val="788583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6C58-EBB9-6BFD-5DA6-4C081498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AI er </a:t>
            </a:r>
            <a:r>
              <a:rPr lang="en-US" dirty="0" err="1">
                <a:latin typeface="Calibri"/>
                <a:ea typeface="Calibri"/>
                <a:cs typeface="Calibri"/>
              </a:rPr>
              <a:t>magisk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makker</a:t>
            </a:r>
            <a:r>
              <a:rPr lang="en-US" dirty="0"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latin typeface="Calibri"/>
                <a:ea typeface="Calibri"/>
                <a:cs typeface="Calibri"/>
              </a:rPr>
              <a:t>når</a:t>
            </a:r>
            <a:r>
              <a:rPr lang="en-US" dirty="0">
                <a:latin typeface="Calibri"/>
                <a:ea typeface="Calibri"/>
                <a:cs typeface="Calibri"/>
              </a:rPr>
              <a:t> man </a:t>
            </a:r>
            <a:r>
              <a:rPr lang="en-US" dirty="0" err="1">
                <a:latin typeface="Calibri"/>
                <a:ea typeface="Calibri"/>
                <a:cs typeface="Calibri"/>
              </a:rPr>
              <a:t>bruger</a:t>
            </a:r>
            <a:r>
              <a:rPr lang="en-US" dirty="0">
                <a:latin typeface="Calibri"/>
                <a:ea typeface="Calibri"/>
                <a:cs typeface="Calibri"/>
              </a:rPr>
              <a:t> den </a:t>
            </a:r>
            <a:r>
              <a:rPr lang="en-US" dirty="0" err="1">
                <a:latin typeface="Calibri"/>
                <a:ea typeface="Calibri"/>
                <a:cs typeface="Calibri"/>
              </a:rPr>
              <a:t>rigtigt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AED59-9161-90EB-14FE-F7A3FCB4A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Calibri"/>
                <a:cs typeface="Arial"/>
              </a:rPr>
              <a:t>Spørgsmål</a:t>
            </a:r>
            <a:r>
              <a:rPr lang="en-US" dirty="0">
                <a:ea typeface="Calibri"/>
                <a:cs typeface="Arial"/>
              </a:rPr>
              <a:t>?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Link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"alt“ her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bonus-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materialer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: </a:t>
            </a:r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  <a:hlinkClick r:id="rId2"/>
              </a:rPr>
              <a:t>https://github.com/steenhulthin/DEK26_Vibe-coding-AI-assisteret-udvikling-og-ArcGIS</a:t>
            </a:r>
          </a:p>
        </p:txBody>
      </p:sp>
    </p:spTree>
    <p:extLst>
      <p:ext uri="{BB962C8B-B14F-4D97-AF65-F5344CB8AC3E}">
        <p14:creationId xmlns:p14="http://schemas.microsoft.com/office/powerpoint/2010/main" val="3063139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C5EA-A0B2-421F-957E-DE5DF43F7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Hvad</a:t>
            </a:r>
            <a:r>
              <a:rPr lang="en-US" dirty="0"/>
              <a:t> bringer </a:t>
            </a:r>
            <a:r>
              <a:rPr lang="en-US" dirty="0" err="1"/>
              <a:t>fremtiden</a:t>
            </a:r>
            <a:r>
              <a:rPr lang="en-US" dirty="0"/>
              <a:t>???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F4954A0-E303-445D-9008-23CEDD17B3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8280" y="1341265"/>
            <a:ext cx="7867253" cy="4391025"/>
          </a:xfrm>
        </p:spPr>
      </p:pic>
    </p:spTree>
    <p:extLst>
      <p:ext uri="{BB962C8B-B14F-4D97-AF65-F5344CB8AC3E}">
        <p14:creationId xmlns:p14="http://schemas.microsoft.com/office/powerpoint/2010/main" val="31950847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9A48-8DB4-4A1B-A9DE-1D39DF139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Fremtiden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627A5-BCF5-46B6-AA36-3850D12A9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Forretningsværdi</a:t>
            </a:r>
            <a:r>
              <a:rPr lang="en-US" dirty="0"/>
              <a:t> er/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værdien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data</a:t>
            </a:r>
          </a:p>
          <a:p>
            <a:endParaRPr lang="en-US" dirty="0"/>
          </a:p>
          <a:p>
            <a:r>
              <a:rPr lang="en-US" dirty="0"/>
              <a:t>Software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lavet</a:t>
            </a:r>
            <a:r>
              <a:rPr lang="en-US" dirty="0"/>
              <a:t> </a:t>
            </a:r>
            <a:r>
              <a:rPr lang="en-US" dirty="0" err="1"/>
              <a:t>hurtigere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billigere</a:t>
            </a:r>
            <a:r>
              <a:rPr lang="en-US" dirty="0"/>
              <a:t> =&gt; </a:t>
            </a:r>
            <a:r>
              <a:rPr lang="en-US" dirty="0" err="1"/>
              <a:t>salg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software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sværere</a:t>
            </a:r>
            <a:r>
              <a:rPr lang="en-US" dirty="0"/>
              <a:t> at </a:t>
            </a:r>
            <a:r>
              <a:rPr lang="en-US" dirty="0" err="1"/>
              <a:t>leve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(</a:t>
            </a:r>
            <a:r>
              <a:rPr lang="en-US" dirty="0" err="1"/>
              <a:t>LLM’er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bygge</a:t>
            </a:r>
            <a:r>
              <a:rPr lang="en-US" dirty="0"/>
              <a:t> </a:t>
            </a:r>
            <a:r>
              <a:rPr lang="en-US" dirty="0" err="1"/>
              <a:t>klassisk</a:t>
            </a:r>
            <a:r>
              <a:rPr lang="en-US" dirty="0"/>
              <a:t> IT </a:t>
            </a:r>
            <a:r>
              <a:rPr lang="en-US" dirty="0" err="1"/>
              <a:t>hurtigt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Agenterne</a:t>
            </a:r>
            <a:r>
              <a:rPr lang="en-US" dirty="0"/>
              <a:t> </a:t>
            </a:r>
            <a:r>
              <a:rPr lang="en-US" dirty="0" err="1"/>
              <a:t>kommer</a:t>
            </a:r>
            <a:r>
              <a:rPr lang="en-US" dirty="0"/>
              <a:t>!!! (Men vi er </a:t>
            </a:r>
            <a:r>
              <a:rPr lang="en-US" dirty="0" err="1"/>
              <a:t>stadig</a:t>
            </a:r>
            <a:r>
              <a:rPr lang="en-US" dirty="0"/>
              <a:t> et </a:t>
            </a:r>
            <a:r>
              <a:rPr lang="en-US" dirty="0" err="1"/>
              <a:t>godt</a:t>
            </a:r>
            <a:r>
              <a:rPr lang="en-US" dirty="0"/>
              <a:t> </a:t>
            </a:r>
            <a:r>
              <a:rPr lang="en-US" dirty="0" err="1"/>
              <a:t>sted</a:t>
            </a:r>
            <a:r>
              <a:rPr lang="en-US" dirty="0"/>
              <a:t>)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Agentisk</a:t>
            </a:r>
            <a:r>
              <a:rPr lang="en-US" dirty="0"/>
              <a:t> </a:t>
            </a:r>
            <a:r>
              <a:rPr lang="en-US" dirty="0" err="1"/>
              <a:t>programmering</a:t>
            </a:r>
            <a:r>
              <a:rPr lang="en-US" dirty="0"/>
              <a:t> </a:t>
            </a:r>
            <a:r>
              <a:rPr lang="en-US" dirty="0" err="1"/>
              <a:t>erstatter</a:t>
            </a:r>
            <a:r>
              <a:rPr lang="en-US" dirty="0"/>
              <a:t> vibe coding. </a:t>
            </a:r>
            <a:r>
              <a:rPr lang="en-US" dirty="0" err="1"/>
              <a:t>Programmering</a:t>
            </a:r>
            <a:r>
              <a:rPr lang="en-US" dirty="0"/>
              <a:t>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specifikation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	Vi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få</a:t>
            </a:r>
            <a:r>
              <a:rPr lang="en-US" dirty="0"/>
              <a:t> </a:t>
            </a:r>
            <a:r>
              <a:rPr lang="en-US" dirty="0" err="1"/>
              <a:t>meget</a:t>
            </a:r>
            <a:r>
              <a:rPr lang="en-US" dirty="0"/>
              <a:t> </a:t>
            </a:r>
            <a:r>
              <a:rPr lang="en-US" dirty="0" err="1"/>
              <a:t>værdi</a:t>
            </a:r>
            <a:r>
              <a:rPr lang="en-US" dirty="0"/>
              <a:t> </a:t>
            </a:r>
            <a:r>
              <a:rPr lang="en-US" dirty="0" err="1"/>
              <a:t>ud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at </a:t>
            </a:r>
            <a:r>
              <a:rPr lang="en-US" dirty="0" err="1"/>
              <a:t>bruge</a:t>
            </a:r>
            <a:r>
              <a:rPr lang="en-US" dirty="0"/>
              <a:t> </a:t>
            </a:r>
            <a:r>
              <a:rPr lang="en-US" dirty="0" err="1"/>
              <a:t>agenterne</a:t>
            </a:r>
            <a:r>
              <a:rPr lang="en-US" dirty="0"/>
              <a:t> </a:t>
            </a:r>
            <a:r>
              <a:rPr lang="en-US" dirty="0" err="1"/>
              <a:t>rigtigt</a:t>
            </a:r>
            <a:r>
              <a:rPr lang="en-US" dirty="0"/>
              <a:t>. 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53582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C57AF-8DC0-495E-ACCB-1100A5908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Mine </a:t>
            </a:r>
            <a:r>
              <a:rPr lang="en-US" dirty="0" err="1"/>
              <a:t>personlige</a:t>
            </a:r>
            <a:r>
              <a:rPr lang="en-US" dirty="0"/>
              <a:t> </a:t>
            </a:r>
            <a:r>
              <a:rPr lang="en-US" dirty="0" err="1"/>
              <a:t>projekter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11529-0144-49D9-A4FE-EEB516A8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192306"/>
            <a:ext cx="11103711" cy="5121571"/>
          </a:xfrm>
        </p:spPr>
        <p:txBody>
          <a:bodyPr/>
          <a:lstStyle/>
          <a:p>
            <a:r>
              <a:rPr lang="en-US" dirty="0"/>
              <a:t>#Dagensdashboard - </a:t>
            </a:r>
            <a:r>
              <a:rPr lang="en-US" dirty="0">
                <a:hlinkClick r:id="rId2"/>
              </a:rPr>
              <a:t>https://steenhulthin.github.io/DagensDashboard/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 err="1"/>
              <a:t>Sikkerhed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agenter</a:t>
            </a:r>
            <a:r>
              <a:rPr lang="en-US" dirty="0"/>
              <a:t>. </a:t>
            </a:r>
            <a:r>
              <a:rPr lang="en-US" dirty="0" err="1"/>
              <a:t>Kursus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at </a:t>
            </a:r>
            <a:r>
              <a:rPr lang="en-US" dirty="0" err="1"/>
              <a:t>indkapsle</a:t>
            </a:r>
            <a:r>
              <a:rPr lang="en-US" dirty="0"/>
              <a:t> </a:t>
            </a:r>
            <a:r>
              <a:rPr lang="en-US" dirty="0" err="1"/>
              <a:t>agenter</a:t>
            </a:r>
            <a:r>
              <a:rPr lang="en-US" dirty="0"/>
              <a:t> (</a:t>
            </a:r>
            <a:r>
              <a:rPr lang="en-US" dirty="0" err="1"/>
              <a:t>teknisk</a:t>
            </a:r>
            <a:r>
              <a:rPr lang="en-US" dirty="0"/>
              <a:t>): </a:t>
            </a:r>
            <a:r>
              <a:rPr lang="en-US" dirty="0">
                <a:hlinkClick r:id="rId3"/>
              </a:rPr>
              <a:t>https://steenhulthin.github.io/docker4agentic_coding/</a:t>
            </a:r>
            <a:r>
              <a:rPr lang="en-US" dirty="0"/>
              <a:t> (</a:t>
            </a:r>
            <a:r>
              <a:rPr lang="en-US" dirty="0" err="1"/>
              <a:t>Jeg</a:t>
            </a:r>
            <a:r>
              <a:rPr lang="en-US" dirty="0"/>
              <a:t> mangler </a:t>
            </a:r>
            <a:r>
              <a:rPr lang="en-US" dirty="0" err="1"/>
              <a:t>alfatestere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Kursus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AI for geodata-</a:t>
            </a:r>
            <a:r>
              <a:rPr lang="en-US" dirty="0" err="1"/>
              <a:t>folket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</a:t>
            </a:r>
            <a:r>
              <a:rPr lang="en-US" dirty="0" err="1"/>
              <a:t>vej</a:t>
            </a:r>
            <a:endParaRPr lang="en-US" dirty="0"/>
          </a:p>
          <a:p>
            <a:endParaRPr lang="en-US" dirty="0"/>
          </a:p>
          <a:p>
            <a:r>
              <a:rPr lang="en-US" dirty="0"/>
              <a:t>#DanmarkSkifter - </a:t>
            </a:r>
            <a:r>
              <a:rPr lang="en-US" dirty="0">
                <a:hlinkClick r:id="rId4"/>
              </a:rPr>
              <a:t>https://www.youtube.com/playlist?list=PLktLjJ230F_3LRG82QQs6jMQiQzLWFtV4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 err="1"/>
              <a:t>Udfyld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spørgeskema</a:t>
            </a:r>
            <a:r>
              <a:rPr lang="en-US" dirty="0"/>
              <a:t> om </a:t>
            </a:r>
            <a:r>
              <a:rPr lang="en-US" dirty="0" err="1"/>
              <a:t>arbejdsbrug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AI!  </a:t>
            </a:r>
            <a:r>
              <a:rPr lang="en-US" dirty="0">
                <a:hlinkClick r:id="rId5"/>
              </a:rPr>
              <a:t>https://docs.google.com/forms/d/e/1FAIpQLScbNMKm-HVA6YQ1L6K5LPDVWye5Ue9x8aKijKaySYvAvLGXcw/viewform?pli=1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329426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0ED6A96-D26D-5B52-20A4-E15DAA4CF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Tak for jeres tid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8AA5EB5-A014-9D87-EAF5-C844C624705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587450006"/>
      </p:ext>
    </p:extLst>
  </p:cSld>
  <p:clrMapOvr>
    <a:masterClrMapping/>
  </p:clrMapOvr>
</p:sld>
</file>

<file path=ppt/theme/theme1.xml><?xml version="1.0" encoding="utf-8"?>
<a:theme xmlns:a="http://schemas.openxmlformats.org/drawingml/2006/main" name="SSI">
  <a:themeElements>
    <a:clrScheme name="SSI farver">
      <a:dk1>
        <a:sysClr val="windowText" lastClr="000000"/>
      </a:dk1>
      <a:lt1>
        <a:sysClr val="window" lastClr="FFFFFF"/>
      </a:lt1>
      <a:dk2>
        <a:srgbClr val="112048"/>
      </a:dk2>
      <a:lt2>
        <a:srgbClr val="541A23"/>
      </a:lt2>
      <a:accent1>
        <a:srgbClr val="B51412"/>
      </a:accent1>
      <a:accent2>
        <a:srgbClr val="DA7B27"/>
      </a:accent2>
      <a:accent3>
        <a:srgbClr val="7B8691"/>
      </a:accent3>
      <a:accent4>
        <a:srgbClr val="367F68"/>
      </a:accent4>
      <a:accent5>
        <a:srgbClr val="8092C6"/>
      </a:accent5>
      <a:accent6>
        <a:srgbClr val="3C6088"/>
      </a:accent6>
      <a:hlink>
        <a:srgbClr val="000000"/>
      </a:hlink>
      <a:folHlink>
        <a:srgbClr val="000000"/>
      </a:folHlink>
    </a:clrScheme>
    <a:fontScheme name="SSI font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I_PowerPoint præsentation.potx" id="{74BA80A9-2F53-4B0F-8921-B3BE24D74B3B}" vid="{0358DCEB-EAEA-4474-88A1-DA99D19F9F3A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701BA1634B2B04D8AB99B32221FEA66" ma:contentTypeVersion="20" ma:contentTypeDescription="Opret et nyt dokument." ma:contentTypeScope="" ma:versionID="6bc72618500a8a6efef4e15fe3458a19">
  <xsd:schema xmlns:xsd="http://www.w3.org/2001/XMLSchema" xmlns:xs="http://www.w3.org/2001/XMLSchema" xmlns:p="http://schemas.microsoft.com/office/2006/metadata/properties" xmlns:ns2="12ff74cc-9611-4422-8f5f-2fd59a0d1353" xmlns:ns3="eee2f643-61f1-4bc5-bd2f-0ddea5310e08" targetNamespace="http://schemas.microsoft.com/office/2006/metadata/properties" ma:root="true" ma:fieldsID="fb24fa6afb0e51ed4580ee901350a5d1" ns2:_="" ns3:_="">
    <xsd:import namespace="12ff74cc-9611-4422-8f5f-2fd59a0d1353"/>
    <xsd:import namespace="eee2f643-61f1-4bc5-bd2f-0ddea5310e0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_Flow_SignoffStatus" minOccurs="0"/>
                <xsd:element ref="ns2:MedCom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ff74cc-9611-4422-8f5f-2fd59a0d135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Billedmærker" ma:readOnly="false" ma:fieldId="{5cf76f15-5ced-4ddc-b409-7134ff3c332f}" ma:taxonomyMulti="true" ma:sspId="b954ac37-474b-4ce9-96da-5e2495cdfa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Flow_SignoffStatus" ma:index="22" nillable="true" ma:displayName="Godkendelsesstatus" ma:internalName="Godkendelsesstatus">
      <xsd:simpleType>
        <xsd:restriction base="dms:Text"/>
      </xsd:simpleType>
    </xsd:element>
    <xsd:element name="MedCom" ma:index="23" nillable="true" ma:displayName="MedCom" ma:internalName="MedCom">
      <xsd:simpleType>
        <xsd:restriction base="dms:Text">
          <xsd:maxLength value="255"/>
        </xsd:restriction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6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e2f643-61f1-4bc5-bd2f-0ddea5310e0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eb01b54-bb58-41c5-ae28-f67e6fd2db35}" ma:internalName="TaxCatchAll" ma:showField="CatchAllData" ma:web="eee2f643-61f1-4bc5-bd2f-0ddea5310e0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ee2f643-61f1-4bc5-bd2f-0ddea5310e08" xsi:nil="true"/>
    <_Flow_SignoffStatus xmlns="12ff74cc-9611-4422-8f5f-2fd59a0d1353" xsi:nil="true"/>
    <lcf76f155ced4ddcb4097134ff3c332f xmlns="12ff74cc-9611-4422-8f5f-2fd59a0d1353">
      <Terms xmlns="http://schemas.microsoft.com/office/infopath/2007/PartnerControls"/>
    </lcf76f155ced4ddcb4097134ff3c332f>
    <MedCom xmlns="12ff74cc-9611-4422-8f5f-2fd59a0d1353" xsi:nil="true"/>
  </documentManagement>
</p:properties>
</file>

<file path=customXml/itemProps1.xml><?xml version="1.0" encoding="utf-8"?>
<ds:datastoreItem xmlns:ds="http://schemas.openxmlformats.org/officeDocument/2006/customXml" ds:itemID="{14AB1A68-8018-4E90-BA70-6DC9173B162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0E7631D-FF33-4A81-83A1-18D3900D12F5}">
  <ds:schemaRefs>
    <ds:schemaRef ds:uri="12ff74cc-9611-4422-8f5f-2fd59a0d1353"/>
    <ds:schemaRef ds:uri="eee2f643-61f1-4bc5-bd2f-0ddea5310e0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DFB07D6-C42B-49DF-A2A6-03D56F926E75}">
  <ds:schemaRefs>
    <ds:schemaRef ds:uri="0154d2e8-1942-4867-bb72-5dd5ffd33c76"/>
    <ds:schemaRef ds:uri="12ff74cc-9611-4422-8f5f-2fd59a0d1353"/>
    <ds:schemaRef ds:uri="80c58e8e-93cf-47da-82f6-c0e4731431d9"/>
    <ds:schemaRef ds:uri="d440e853-7fad-4bf0-8b01-5fa2c2ef55aa"/>
    <ds:schemaRef ds:uri="eee2f643-61f1-4bc5-bd2f-0ddea5310e0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SSI_PowerPoint præsentation</Template>
  <TotalTime>835</TotalTime>
  <Words>1272</Words>
  <Application>Microsoft Office PowerPoint</Application>
  <PresentationFormat>Widescreen</PresentationFormat>
  <Paragraphs>148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Segoe UI</vt:lpstr>
      <vt:lpstr>SSI</vt:lpstr>
      <vt:lpstr>Vibe coding, AI-assisteret udvikling og ArcGIS</vt:lpstr>
      <vt:lpstr>AI + data =&gt; dashboards på rekordtid </vt:lpstr>
      <vt:lpstr>Hvad er SSI (Statens Serum Institut)?</vt:lpstr>
      <vt:lpstr>Hvem er Steen Hulthin Rasmussen?</vt:lpstr>
      <vt:lpstr>Mission briefing og ambitionen </vt:lpstr>
      <vt:lpstr>Første aha-oplevelse (Optimisme -&gt; realisme) </vt:lpstr>
      <vt:lpstr>Hvad er AI-assisteret udvikling og “Vibe Coding”? </vt:lpstr>
      <vt:lpstr>Hvordan ser AI-assiteret udvikling ud?</vt:lpstr>
      <vt:lpstr>Hvordan ser Vibe Coding ud? </vt:lpstr>
      <vt:lpstr>ArcGIS – 3D scene</vt:lpstr>
      <vt:lpstr>ArcGIS - Screenshot</vt:lpstr>
      <vt:lpstr>Hvad der skete til Kortdage… </vt:lpstr>
      <vt:lpstr>LLM’er er (allerede) blevet vildt gode!! Min prompt: “kort virker. Indikator gør ikke.” +</vt:lpstr>
      <vt:lpstr>Lav et dashboard!</vt:lpstr>
      <vt:lpstr>Teknologierne vurderet i forhold til udvikling med AI </vt:lpstr>
      <vt:lpstr>Hvad er AI særligt velegnet til?</vt:lpstr>
      <vt:lpstr>Overvejelser om sikkerhed </vt:lpstr>
      <vt:lpstr>Tips til at bruge AI effektivt </vt:lpstr>
      <vt:lpstr>AI er magisk makker, når man bruger den rigtigt </vt:lpstr>
      <vt:lpstr>Hvad bringer fremtiden???</vt:lpstr>
      <vt:lpstr>Fremtiden</vt:lpstr>
      <vt:lpstr>Mine personlige projekter</vt:lpstr>
      <vt:lpstr>Tak for jeres tid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Gitte Konieczny</dc:creator>
  <cp:lastModifiedBy>Steen Hulthin Rasmussen</cp:lastModifiedBy>
  <cp:revision>115</cp:revision>
  <cp:lastPrinted>2022-08-16T11:35:41Z</cp:lastPrinted>
  <dcterms:created xsi:type="dcterms:W3CDTF">2023-02-22T09:31:22Z</dcterms:created>
  <dcterms:modified xsi:type="dcterms:W3CDTF">2026-05-20T15:07:02Z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0x0101007701BA1634B2B04D8AB99B32221FEA66</vt:lpwstr>
  </property>
  <property fmtid="{D5CDD505-2E9C-101B-9397-08002B2CF9AE}" pid="3" name="MediaServiceImageTags">
    <vt:lpwstr/>
  </property>
</Properties>
</file>